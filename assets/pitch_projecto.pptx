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Ultra-Bold" charset="1" panose="00000900000000000000"/>
      <p:regular r:id="rId13"/>
    </p:embeddedFont>
    <p:embeddedFont>
      <p:font typeface="Montserrat" charset="1" panose="00000500000000000000"/>
      <p:regular r:id="rId14"/>
    </p:embeddedFont>
    <p:embeddedFont>
      <p:font typeface="Montserrat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0267" y="4679267"/>
            <a:ext cx="5607733" cy="5607733"/>
          </a:xfrm>
          <a:custGeom>
            <a:avLst/>
            <a:gdLst/>
            <a:ahLst/>
            <a:cxnLst/>
            <a:rect r="r" b="b" t="t" l="l"/>
            <a:pathLst>
              <a:path h="5607733" w="5607733">
                <a:moveTo>
                  <a:pt x="0" y="0"/>
                </a:moveTo>
                <a:lnTo>
                  <a:pt x="5607733" y="0"/>
                </a:lnTo>
                <a:lnTo>
                  <a:pt x="5607733" y="5607733"/>
                </a:lnTo>
                <a:lnTo>
                  <a:pt x="0" y="560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57651" y="-4108320"/>
            <a:ext cx="7374892" cy="7374892"/>
          </a:xfrm>
          <a:custGeom>
            <a:avLst/>
            <a:gdLst/>
            <a:ahLst/>
            <a:cxnLst/>
            <a:rect r="r" b="b" t="t" l="l"/>
            <a:pathLst>
              <a:path h="7374892" w="7374892">
                <a:moveTo>
                  <a:pt x="0" y="0"/>
                </a:moveTo>
                <a:lnTo>
                  <a:pt x="7374892" y="0"/>
                </a:lnTo>
                <a:lnTo>
                  <a:pt x="7374892" y="7374892"/>
                </a:lnTo>
                <a:lnTo>
                  <a:pt x="0" y="7374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838568" y="4014227"/>
            <a:ext cx="9380811" cy="346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6"/>
              </a:lnSpc>
            </a:pPr>
            <a:r>
              <a:rPr lang="en-US" sz="5684" b="tru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CONVI</a:t>
            </a:r>
            <a:r>
              <a:rPr lang="en-US" b="true" sz="5684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ERTE LLAMADAS EN PEDIDOS AUTOMÁTICAMENTE</a:t>
            </a:r>
          </a:p>
          <a:p>
            <a:pPr algn="l">
              <a:lnSpc>
                <a:spcPts val="5456"/>
              </a:lnSpc>
            </a:pPr>
          </a:p>
          <a:p>
            <a:pPr algn="l">
              <a:lnSpc>
                <a:spcPts val="545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38568" y="6401423"/>
            <a:ext cx="9600444" cy="166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4"/>
              </a:lnSpc>
            </a:pPr>
            <a:r>
              <a:rPr lang="en-US" sz="3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agente de voz qu</a:t>
            </a:r>
            <a:r>
              <a:rPr lang="en-US" sz="31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responde llamadas y crea pedidos en tiempo real.</a:t>
            </a:r>
          </a:p>
          <a:p>
            <a:pPr algn="l">
              <a:lnSpc>
                <a:spcPts val="441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975084" y="-1730867"/>
            <a:ext cx="12745157" cy="12745157"/>
          </a:xfrm>
          <a:custGeom>
            <a:avLst/>
            <a:gdLst/>
            <a:ahLst/>
            <a:cxnLst/>
            <a:rect r="r" b="b" t="t" l="l"/>
            <a:pathLst>
              <a:path h="12745157" w="12745157">
                <a:moveTo>
                  <a:pt x="12745156" y="12745156"/>
                </a:moveTo>
                <a:lnTo>
                  <a:pt x="0" y="12745156"/>
                </a:lnTo>
                <a:lnTo>
                  <a:pt x="0" y="0"/>
                </a:lnTo>
                <a:lnTo>
                  <a:pt x="12745156" y="0"/>
                </a:lnTo>
                <a:lnTo>
                  <a:pt x="12745156" y="12745156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852491" y="2734884"/>
            <a:ext cx="4129430" cy="2146841"/>
            <a:chOff x="0" y="0"/>
            <a:chExt cx="1230588" cy="6397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0588" cy="639768"/>
            </a:xfrm>
            <a:custGeom>
              <a:avLst/>
              <a:gdLst/>
              <a:ahLst/>
              <a:cxnLst/>
              <a:rect r="r" b="b" t="t" l="l"/>
              <a:pathLst>
                <a:path h="639768" w="1230588">
                  <a:moveTo>
                    <a:pt x="59994" y="0"/>
                  </a:moveTo>
                  <a:lnTo>
                    <a:pt x="1170594" y="0"/>
                  </a:lnTo>
                  <a:cubicBezTo>
                    <a:pt x="1186506" y="0"/>
                    <a:pt x="1201765" y="6321"/>
                    <a:pt x="1213016" y="17572"/>
                  </a:cubicBezTo>
                  <a:cubicBezTo>
                    <a:pt x="1224267" y="28823"/>
                    <a:pt x="1230588" y="44083"/>
                    <a:pt x="1230588" y="59994"/>
                  </a:cubicBezTo>
                  <a:lnTo>
                    <a:pt x="1230588" y="579774"/>
                  </a:lnTo>
                  <a:cubicBezTo>
                    <a:pt x="1230588" y="612908"/>
                    <a:pt x="1203728" y="639768"/>
                    <a:pt x="1170594" y="639768"/>
                  </a:cubicBezTo>
                  <a:lnTo>
                    <a:pt x="59994" y="639768"/>
                  </a:lnTo>
                  <a:cubicBezTo>
                    <a:pt x="26860" y="639768"/>
                    <a:pt x="0" y="612908"/>
                    <a:pt x="0" y="579774"/>
                  </a:cubicBezTo>
                  <a:lnTo>
                    <a:pt x="0" y="59994"/>
                  </a:lnTo>
                  <a:cubicBezTo>
                    <a:pt x="0" y="26860"/>
                    <a:pt x="26860" y="0"/>
                    <a:pt x="59994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30588" cy="687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27393" y="226093"/>
            <a:ext cx="4129430" cy="2146841"/>
            <a:chOff x="0" y="0"/>
            <a:chExt cx="1230588" cy="639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0588" cy="639768"/>
            </a:xfrm>
            <a:custGeom>
              <a:avLst/>
              <a:gdLst/>
              <a:ahLst/>
              <a:cxnLst/>
              <a:rect r="r" b="b" t="t" l="l"/>
              <a:pathLst>
                <a:path h="639768" w="1230588">
                  <a:moveTo>
                    <a:pt x="59994" y="0"/>
                  </a:moveTo>
                  <a:lnTo>
                    <a:pt x="1170594" y="0"/>
                  </a:lnTo>
                  <a:cubicBezTo>
                    <a:pt x="1186506" y="0"/>
                    <a:pt x="1201765" y="6321"/>
                    <a:pt x="1213016" y="17572"/>
                  </a:cubicBezTo>
                  <a:cubicBezTo>
                    <a:pt x="1224267" y="28823"/>
                    <a:pt x="1230588" y="44083"/>
                    <a:pt x="1230588" y="59994"/>
                  </a:cubicBezTo>
                  <a:lnTo>
                    <a:pt x="1230588" y="579774"/>
                  </a:lnTo>
                  <a:cubicBezTo>
                    <a:pt x="1230588" y="612908"/>
                    <a:pt x="1203728" y="639768"/>
                    <a:pt x="1170594" y="639768"/>
                  </a:cubicBezTo>
                  <a:lnTo>
                    <a:pt x="59994" y="639768"/>
                  </a:lnTo>
                  <a:cubicBezTo>
                    <a:pt x="26860" y="639768"/>
                    <a:pt x="0" y="612908"/>
                    <a:pt x="0" y="579774"/>
                  </a:cubicBezTo>
                  <a:lnTo>
                    <a:pt x="0" y="59994"/>
                  </a:lnTo>
                  <a:cubicBezTo>
                    <a:pt x="0" y="26860"/>
                    <a:pt x="26860" y="0"/>
                    <a:pt x="59994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30588" cy="687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50750" y="5246941"/>
            <a:ext cx="4129430" cy="2146841"/>
            <a:chOff x="0" y="0"/>
            <a:chExt cx="1230588" cy="639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0588" cy="639768"/>
            </a:xfrm>
            <a:custGeom>
              <a:avLst/>
              <a:gdLst/>
              <a:ahLst/>
              <a:cxnLst/>
              <a:rect r="r" b="b" t="t" l="l"/>
              <a:pathLst>
                <a:path h="639768" w="1230588">
                  <a:moveTo>
                    <a:pt x="59994" y="0"/>
                  </a:moveTo>
                  <a:lnTo>
                    <a:pt x="1170594" y="0"/>
                  </a:lnTo>
                  <a:cubicBezTo>
                    <a:pt x="1186506" y="0"/>
                    <a:pt x="1201765" y="6321"/>
                    <a:pt x="1213016" y="17572"/>
                  </a:cubicBezTo>
                  <a:cubicBezTo>
                    <a:pt x="1224267" y="28823"/>
                    <a:pt x="1230588" y="44083"/>
                    <a:pt x="1230588" y="59994"/>
                  </a:cubicBezTo>
                  <a:lnTo>
                    <a:pt x="1230588" y="579774"/>
                  </a:lnTo>
                  <a:cubicBezTo>
                    <a:pt x="1230588" y="612908"/>
                    <a:pt x="1203728" y="639768"/>
                    <a:pt x="1170594" y="639768"/>
                  </a:cubicBezTo>
                  <a:lnTo>
                    <a:pt x="59994" y="639768"/>
                  </a:lnTo>
                  <a:cubicBezTo>
                    <a:pt x="26860" y="639768"/>
                    <a:pt x="0" y="612908"/>
                    <a:pt x="0" y="579774"/>
                  </a:cubicBezTo>
                  <a:lnTo>
                    <a:pt x="0" y="59994"/>
                  </a:lnTo>
                  <a:cubicBezTo>
                    <a:pt x="0" y="26860"/>
                    <a:pt x="26860" y="0"/>
                    <a:pt x="59994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0588" cy="687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3845330"/>
            <a:ext cx="1225130" cy="790766"/>
          </a:xfrm>
          <a:custGeom>
            <a:avLst/>
            <a:gdLst/>
            <a:ahLst/>
            <a:cxnLst/>
            <a:rect r="r" b="b" t="t" l="l"/>
            <a:pathLst>
              <a:path h="790766" w="1225130">
                <a:moveTo>
                  <a:pt x="0" y="0"/>
                </a:moveTo>
                <a:lnTo>
                  <a:pt x="1225130" y="0"/>
                </a:lnTo>
                <a:lnTo>
                  <a:pt x="1225130" y="790765"/>
                </a:lnTo>
                <a:lnTo>
                  <a:pt x="0" y="790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4826595"/>
            <a:ext cx="7762875" cy="103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0"/>
              </a:lnSpc>
              <a:spcBef>
                <a:spcPct val="0"/>
              </a:spcBef>
            </a:pPr>
            <a:r>
              <a:rPr lang="en-US" b="true" sz="8062">
                <a:solidFill>
                  <a:srgbClr val="1825C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4138" y="3195943"/>
            <a:ext cx="4129430" cy="117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  <a:spcBef>
                <a:spcPct val="0"/>
              </a:spcBef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</a:t>
            </a: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madas no contestadas por gran volumen de llamadas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11489" y="687151"/>
            <a:ext cx="3361236" cy="78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  <a:spcBef>
                <a:spcPct val="0"/>
              </a:spcBef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iempos de espera interminables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38823" y="5707999"/>
            <a:ext cx="3553285" cy="78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  <a:spcBef>
                <a:spcPct val="0"/>
              </a:spcBef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Llamadas fuera de horas laborales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941208"/>
            <a:ext cx="6636577" cy="79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  <a:spcBef>
                <a:spcPct val="0"/>
              </a:spcBef>
            </a:pPr>
            <a:r>
              <a:rPr lang="en-US" sz="2263">
                <a:solidFill>
                  <a:srgbClr val="141711"/>
                </a:solidFill>
                <a:latin typeface="Montserrat"/>
                <a:ea typeface="Montserrat"/>
                <a:cs typeface="Montserrat"/>
                <a:sym typeface="Montserrat"/>
              </a:rPr>
              <a:t>Cada</a:t>
            </a:r>
            <a:r>
              <a:rPr lang="en-US" sz="2263">
                <a:solidFill>
                  <a:srgbClr val="141711"/>
                </a:solidFill>
                <a:latin typeface="Montserrat"/>
                <a:ea typeface="Montserrat"/>
                <a:cs typeface="Montserrat"/>
                <a:sym typeface="Montserrat"/>
              </a:rPr>
              <a:t> llamada perdida es una venta perdida.</a:t>
            </a:r>
          </a:p>
          <a:p>
            <a:pPr algn="ctr">
              <a:lnSpc>
                <a:spcPts val="3168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0458407" y="7755732"/>
            <a:ext cx="4129430" cy="2146841"/>
            <a:chOff x="0" y="0"/>
            <a:chExt cx="1230588" cy="639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30588" cy="639768"/>
            </a:xfrm>
            <a:custGeom>
              <a:avLst/>
              <a:gdLst/>
              <a:ahLst/>
              <a:cxnLst/>
              <a:rect r="r" b="b" t="t" l="l"/>
              <a:pathLst>
                <a:path h="639768" w="1230588">
                  <a:moveTo>
                    <a:pt x="59994" y="0"/>
                  </a:moveTo>
                  <a:lnTo>
                    <a:pt x="1170594" y="0"/>
                  </a:lnTo>
                  <a:cubicBezTo>
                    <a:pt x="1186506" y="0"/>
                    <a:pt x="1201765" y="6321"/>
                    <a:pt x="1213016" y="17572"/>
                  </a:cubicBezTo>
                  <a:cubicBezTo>
                    <a:pt x="1224267" y="28823"/>
                    <a:pt x="1230588" y="44083"/>
                    <a:pt x="1230588" y="59994"/>
                  </a:cubicBezTo>
                  <a:lnTo>
                    <a:pt x="1230588" y="579774"/>
                  </a:lnTo>
                  <a:cubicBezTo>
                    <a:pt x="1230588" y="612908"/>
                    <a:pt x="1203728" y="639768"/>
                    <a:pt x="1170594" y="639768"/>
                  </a:cubicBezTo>
                  <a:lnTo>
                    <a:pt x="59994" y="639768"/>
                  </a:lnTo>
                  <a:cubicBezTo>
                    <a:pt x="26860" y="639768"/>
                    <a:pt x="0" y="612908"/>
                    <a:pt x="0" y="579774"/>
                  </a:cubicBezTo>
                  <a:lnTo>
                    <a:pt x="0" y="59994"/>
                  </a:lnTo>
                  <a:cubicBezTo>
                    <a:pt x="0" y="26860"/>
                    <a:pt x="26860" y="0"/>
                    <a:pt x="59994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30588" cy="687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746480" y="8216791"/>
            <a:ext cx="3553285" cy="38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  <a:spcBef>
                <a:spcPct val="0"/>
              </a:spcBef>
            </a:pPr>
            <a:r>
              <a:rPr lang="en-US" sz="22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Errores al tomar pedidos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4108" y="-2972393"/>
            <a:ext cx="9550384" cy="9550384"/>
          </a:xfrm>
          <a:custGeom>
            <a:avLst/>
            <a:gdLst/>
            <a:ahLst/>
            <a:cxnLst/>
            <a:rect r="r" b="b" t="t" l="l"/>
            <a:pathLst>
              <a:path h="9550384" w="9550384">
                <a:moveTo>
                  <a:pt x="0" y="0"/>
                </a:moveTo>
                <a:lnTo>
                  <a:pt x="9550384" y="0"/>
                </a:lnTo>
                <a:lnTo>
                  <a:pt x="9550384" y="9550384"/>
                </a:lnTo>
                <a:lnTo>
                  <a:pt x="0" y="955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316093"/>
            <a:ext cx="1419946" cy="1179846"/>
          </a:xfrm>
          <a:custGeom>
            <a:avLst/>
            <a:gdLst/>
            <a:ahLst/>
            <a:cxnLst/>
            <a:rect r="r" b="b" t="t" l="l"/>
            <a:pathLst>
              <a:path h="1179846" w="1419946">
                <a:moveTo>
                  <a:pt x="0" y="0"/>
                </a:moveTo>
                <a:lnTo>
                  <a:pt x="1419946" y="0"/>
                </a:lnTo>
                <a:lnTo>
                  <a:pt x="1419946" y="1179847"/>
                </a:lnTo>
                <a:lnTo>
                  <a:pt x="0" y="1179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11193" y="1998812"/>
            <a:ext cx="9290276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agente de ventas con IA personalizado para cada empresa que responde llamadas, conversa con los clientes y crea pedidos automáticamente, hablando con un acento adaptado a la región donde opera la empresa.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0128" y="4783942"/>
            <a:ext cx="8213872" cy="107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64"/>
              </a:lnSpc>
              <a:spcBef>
                <a:spcPct val="0"/>
              </a:spcBef>
            </a:pPr>
            <a:r>
              <a:rPr lang="en-US" b="true" sz="8400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SOLUCIÓN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04418" y="5930143"/>
            <a:ext cx="9290276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mas esperas largas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Manejo de la venta en cuestión de segundos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conversacion natural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Registra el pedido automáticamente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Atiende llamadas 24/7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6689696" y="-230107"/>
            <a:ext cx="11988696" cy="11988696"/>
          </a:xfrm>
          <a:custGeom>
            <a:avLst/>
            <a:gdLst/>
            <a:ahLst/>
            <a:cxnLst/>
            <a:rect r="r" b="b" t="t" l="l"/>
            <a:pathLst>
              <a:path h="11988696" w="11988696">
                <a:moveTo>
                  <a:pt x="0" y="11988696"/>
                </a:moveTo>
                <a:lnTo>
                  <a:pt x="11988696" y="11988696"/>
                </a:lnTo>
                <a:lnTo>
                  <a:pt x="11988696" y="0"/>
                </a:lnTo>
                <a:lnTo>
                  <a:pt x="0" y="0"/>
                </a:lnTo>
                <a:lnTo>
                  <a:pt x="0" y="11988696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497229" y="1671486"/>
            <a:ext cx="7956973" cy="710729"/>
            <a:chOff x="0" y="0"/>
            <a:chExt cx="2095664" cy="1871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5664" cy="187188"/>
            </a:xfrm>
            <a:custGeom>
              <a:avLst/>
              <a:gdLst/>
              <a:ahLst/>
              <a:cxnLst/>
              <a:rect r="r" b="b" t="t" l="l"/>
              <a:pathLst>
                <a:path h="187188" w="2095664">
                  <a:moveTo>
                    <a:pt x="93594" y="0"/>
                  </a:moveTo>
                  <a:lnTo>
                    <a:pt x="2002070" y="0"/>
                  </a:lnTo>
                  <a:cubicBezTo>
                    <a:pt x="2053760" y="0"/>
                    <a:pt x="2095664" y="41903"/>
                    <a:pt x="2095664" y="93594"/>
                  </a:cubicBezTo>
                  <a:lnTo>
                    <a:pt x="2095664" y="93594"/>
                  </a:lnTo>
                  <a:cubicBezTo>
                    <a:pt x="2095664" y="145284"/>
                    <a:pt x="2053760" y="187188"/>
                    <a:pt x="2002070" y="187188"/>
                  </a:cubicBezTo>
                  <a:lnTo>
                    <a:pt x="93594" y="187188"/>
                  </a:lnTo>
                  <a:cubicBezTo>
                    <a:pt x="41903" y="187188"/>
                    <a:pt x="0" y="145284"/>
                    <a:pt x="0" y="93594"/>
                  </a:cubicBezTo>
                  <a:lnTo>
                    <a:pt x="0" y="93594"/>
                  </a:lnTo>
                  <a:cubicBezTo>
                    <a:pt x="0" y="41903"/>
                    <a:pt x="41903" y="0"/>
                    <a:pt x="935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095664" cy="23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97229" y="2546848"/>
            <a:ext cx="7956973" cy="745694"/>
            <a:chOff x="0" y="0"/>
            <a:chExt cx="2095664" cy="1963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5664" cy="196397"/>
            </a:xfrm>
            <a:custGeom>
              <a:avLst/>
              <a:gdLst/>
              <a:ahLst/>
              <a:cxnLst/>
              <a:rect r="r" b="b" t="t" l="l"/>
              <a:pathLst>
                <a:path h="196397" w="2095664">
                  <a:moveTo>
                    <a:pt x="97297" y="0"/>
                  </a:moveTo>
                  <a:lnTo>
                    <a:pt x="1998366" y="0"/>
                  </a:lnTo>
                  <a:cubicBezTo>
                    <a:pt x="2024171" y="0"/>
                    <a:pt x="2048919" y="10251"/>
                    <a:pt x="2067166" y="28498"/>
                  </a:cubicBezTo>
                  <a:cubicBezTo>
                    <a:pt x="2085413" y="46745"/>
                    <a:pt x="2095664" y="71492"/>
                    <a:pt x="2095664" y="97297"/>
                  </a:cubicBezTo>
                  <a:lnTo>
                    <a:pt x="2095664" y="99099"/>
                  </a:lnTo>
                  <a:cubicBezTo>
                    <a:pt x="2095664" y="152835"/>
                    <a:pt x="2052102" y="196397"/>
                    <a:pt x="1998366" y="196397"/>
                  </a:cubicBezTo>
                  <a:lnTo>
                    <a:pt x="97297" y="196397"/>
                  </a:lnTo>
                  <a:cubicBezTo>
                    <a:pt x="43561" y="196397"/>
                    <a:pt x="0" y="152835"/>
                    <a:pt x="0" y="99099"/>
                  </a:cubicBezTo>
                  <a:lnTo>
                    <a:pt x="0" y="97297"/>
                  </a:lnTo>
                  <a:cubicBezTo>
                    <a:pt x="0" y="43561"/>
                    <a:pt x="43561" y="0"/>
                    <a:pt x="972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95664" cy="244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58138" y="1690333"/>
            <a:ext cx="633697" cy="63369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58138" y="2598630"/>
            <a:ext cx="633697" cy="63369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97229" y="3473039"/>
            <a:ext cx="7956973" cy="729829"/>
            <a:chOff x="0" y="0"/>
            <a:chExt cx="2095664" cy="1922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5664" cy="192218"/>
            </a:xfrm>
            <a:custGeom>
              <a:avLst/>
              <a:gdLst/>
              <a:ahLst/>
              <a:cxnLst/>
              <a:rect r="r" b="b" t="t" l="l"/>
              <a:pathLst>
                <a:path h="192218" w="2095664">
                  <a:moveTo>
                    <a:pt x="96109" y="0"/>
                  </a:moveTo>
                  <a:lnTo>
                    <a:pt x="1999554" y="0"/>
                  </a:lnTo>
                  <a:cubicBezTo>
                    <a:pt x="2025044" y="0"/>
                    <a:pt x="2049490" y="10126"/>
                    <a:pt x="2067514" y="28150"/>
                  </a:cubicBezTo>
                  <a:cubicBezTo>
                    <a:pt x="2085538" y="46174"/>
                    <a:pt x="2095664" y="70619"/>
                    <a:pt x="2095664" y="96109"/>
                  </a:cubicBezTo>
                  <a:lnTo>
                    <a:pt x="2095664" y="96109"/>
                  </a:lnTo>
                  <a:cubicBezTo>
                    <a:pt x="2095664" y="121599"/>
                    <a:pt x="2085538" y="146045"/>
                    <a:pt x="2067514" y="164069"/>
                  </a:cubicBezTo>
                  <a:cubicBezTo>
                    <a:pt x="2049490" y="182093"/>
                    <a:pt x="2025044" y="192218"/>
                    <a:pt x="1999554" y="192218"/>
                  </a:cubicBezTo>
                  <a:lnTo>
                    <a:pt x="96109" y="192218"/>
                  </a:lnTo>
                  <a:cubicBezTo>
                    <a:pt x="70619" y="192218"/>
                    <a:pt x="46174" y="182093"/>
                    <a:pt x="28150" y="164069"/>
                  </a:cubicBezTo>
                  <a:cubicBezTo>
                    <a:pt x="10126" y="146045"/>
                    <a:pt x="0" y="121599"/>
                    <a:pt x="0" y="96109"/>
                  </a:cubicBezTo>
                  <a:lnTo>
                    <a:pt x="0" y="96109"/>
                  </a:lnTo>
                  <a:cubicBezTo>
                    <a:pt x="0" y="70619"/>
                    <a:pt x="10126" y="46174"/>
                    <a:pt x="28150" y="28150"/>
                  </a:cubicBezTo>
                  <a:cubicBezTo>
                    <a:pt x="46174" y="10126"/>
                    <a:pt x="70619" y="0"/>
                    <a:pt x="96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95664" cy="239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497229" y="4385243"/>
            <a:ext cx="7956973" cy="727951"/>
            <a:chOff x="0" y="0"/>
            <a:chExt cx="2095664" cy="1917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95664" cy="191724"/>
            </a:xfrm>
            <a:custGeom>
              <a:avLst/>
              <a:gdLst/>
              <a:ahLst/>
              <a:cxnLst/>
              <a:rect r="r" b="b" t="t" l="l"/>
              <a:pathLst>
                <a:path h="191724" w="2095664">
                  <a:moveTo>
                    <a:pt x="95862" y="0"/>
                  </a:moveTo>
                  <a:lnTo>
                    <a:pt x="1999802" y="0"/>
                  </a:lnTo>
                  <a:cubicBezTo>
                    <a:pt x="2025226" y="0"/>
                    <a:pt x="2049609" y="10100"/>
                    <a:pt x="2067586" y="28077"/>
                  </a:cubicBezTo>
                  <a:cubicBezTo>
                    <a:pt x="2085564" y="46055"/>
                    <a:pt x="2095664" y="70438"/>
                    <a:pt x="2095664" y="95862"/>
                  </a:cubicBezTo>
                  <a:lnTo>
                    <a:pt x="2095664" y="95862"/>
                  </a:lnTo>
                  <a:cubicBezTo>
                    <a:pt x="2095664" y="148805"/>
                    <a:pt x="2052745" y="191724"/>
                    <a:pt x="1999802" y="191724"/>
                  </a:cubicBezTo>
                  <a:lnTo>
                    <a:pt x="95862" y="191724"/>
                  </a:lnTo>
                  <a:cubicBezTo>
                    <a:pt x="42919" y="191724"/>
                    <a:pt x="0" y="148805"/>
                    <a:pt x="0" y="95862"/>
                  </a:cubicBezTo>
                  <a:lnTo>
                    <a:pt x="0" y="95862"/>
                  </a:lnTo>
                  <a:cubicBezTo>
                    <a:pt x="0" y="42919"/>
                    <a:pt x="42919" y="0"/>
                    <a:pt x="958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95664" cy="239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58138" y="6179818"/>
            <a:ext cx="7956973" cy="757926"/>
            <a:chOff x="0" y="0"/>
            <a:chExt cx="2095664" cy="1996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95664" cy="199618"/>
            </a:xfrm>
            <a:custGeom>
              <a:avLst/>
              <a:gdLst/>
              <a:ahLst/>
              <a:cxnLst/>
              <a:rect r="r" b="b" t="t" l="l"/>
              <a:pathLst>
                <a:path h="199618" w="2095664">
                  <a:moveTo>
                    <a:pt x="97297" y="0"/>
                  </a:moveTo>
                  <a:lnTo>
                    <a:pt x="1998366" y="0"/>
                  </a:lnTo>
                  <a:cubicBezTo>
                    <a:pt x="2024171" y="0"/>
                    <a:pt x="2048919" y="10251"/>
                    <a:pt x="2067166" y="28498"/>
                  </a:cubicBezTo>
                  <a:cubicBezTo>
                    <a:pt x="2085413" y="46745"/>
                    <a:pt x="2095664" y="71492"/>
                    <a:pt x="2095664" y="97297"/>
                  </a:cubicBezTo>
                  <a:lnTo>
                    <a:pt x="2095664" y="102321"/>
                  </a:lnTo>
                  <a:cubicBezTo>
                    <a:pt x="2095664" y="156057"/>
                    <a:pt x="2052102" y="199618"/>
                    <a:pt x="1998366" y="199618"/>
                  </a:cubicBezTo>
                  <a:lnTo>
                    <a:pt x="97297" y="199618"/>
                  </a:lnTo>
                  <a:cubicBezTo>
                    <a:pt x="43561" y="199618"/>
                    <a:pt x="0" y="156057"/>
                    <a:pt x="0" y="102321"/>
                  </a:cubicBezTo>
                  <a:lnTo>
                    <a:pt x="0" y="97297"/>
                  </a:lnTo>
                  <a:cubicBezTo>
                    <a:pt x="0" y="43561"/>
                    <a:pt x="43561" y="0"/>
                    <a:pt x="972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095664" cy="247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58138" y="7109194"/>
            <a:ext cx="7956973" cy="825480"/>
            <a:chOff x="0" y="0"/>
            <a:chExt cx="2095664" cy="2174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5664" cy="217410"/>
            </a:xfrm>
            <a:custGeom>
              <a:avLst/>
              <a:gdLst/>
              <a:ahLst/>
              <a:cxnLst/>
              <a:rect r="r" b="b" t="t" l="l"/>
              <a:pathLst>
                <a:path h="217410" w="2095664">
                  <a:moveTo>
                    <a:pt x="97297" y="0"/>
                  </a:moveTo>
                  <a:lnTo>
                    <a:pt x="1998366" y="0"/>
                  </a:lnTo>
                  <a:cubicBezTo>
                    <a:pt x="2024171" y="0"/>
                    <a:pt x="2048919" y="10251"/>
                    <a:pt x="2067166" y="28498"/>
                  </a:cubicBezTo>
                  <a:cubicBezTo>
                    <a:pt x="2085413" y="46745"/>
                    <a:pt x="2095664" y="71492"/>
                    <a:pt x="2095664" y="97297"/>
                  </a:cubicBezTo>
                  <a:lnTo>
                    <a:pt x="2095664" y="120113"/>
                  </a:lnTo>
                  <a:cubicBezTo>
                    <a:pt x="2095664" y="173849"/>
                    <a:pt x="2052102" y="217410"/>
                    <a:pt x="1998366" y="217410"/>
                  </a:cubicBezTo>
                  <a:lnTo>
                    <a:pt x="97297" y="217410"/>
                  </a:lnTo>
                  <a:cubicBezTo>
                    <a:pt x="43561" y="217410"/>
                    <a:pt x="0" y="173849"/>
                    <a:pt x="0" y="120113"/>
                  </a:cubicBezTo>
                  <a:lnTo>
                    <a:pt x="0" y="97297"/>
                  </a:lnTo>
                  <a:cubicBezTo>
                    <a:pt x="0" y="43561"/>
                    <a:pt x="43561" y="0"/>
                    <a:pt x="972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95664" cy="265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58138" y="3506927"/>
            <a:ext cx="633697" cy="63369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558138" y="4415225"/>
            <a:ext cx="633697" cy="63369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19047" y="6237746"/>
            <a:ext cx="633697" cy="63369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619047" y="7232647"/>
            <a:ext cx="633697" cy="63369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536865" y="3078852"/>
            <a:ext cx="855270" cy="857126"/>
          </a:xfrm>
          <a:custGeom>
            <a:avLst/>
            <a:gdLst/>
            <a:ahLst/>
            <a:cxnLst/>
            <a:rect r="r" b="b" t="t" l="l"/>
            <a:pathLst>
              <a:path h="857126" w="855270">
                <a:moveTo>
                  <a:pt x="0" y="0"/>
                </a:moveTo>
                <a:lnTo>
                  <a:pt x="855270" y="0"/>
                </a:lnTo>
                <a:lnTo>
                  <a:pt x="855270" y="857125"/>
                </a:lnTo>
                <a:lnTo>
                  <a:pt x="0" y="857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477057" y="1779727"/>
            <a:ext cx="56331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Cliente llama al numero telfonico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77057" y="2690054"/>
            <a:ext cx="490939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responde la llamada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8292" y="4116952"/>
            <a:ext cx="6311877" cy="1898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98"/>
              </a:lnSpc>
              <a:spcBef>
                <a:spcPct val="0"/>
              </a:spcBef>
            </a:pPr>
            <a:r>
              <a:rPr lang="en-US" b="true" sz="7602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¿C</a:t>
            </a:r>
            <a:r>
              <a:rPr lang="en-US" b="true" sz="7602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ÓMO </a:t>
            </a:r>
            <a:r>
              <a:rPr lang="en-US" b="true" sz="7602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FUNCI</a:t>
            </a:r>
            <a:r>
              <a:rPr lang="en-US" b="true" sz="7602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</a:t>
            </a:r>
            <a:r>
              <a:rPr lang="en-US" b="true" sz="7602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NA?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77057" y="3600380"/>
            <a:ext cx="697714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indentifica la necesidad del cliente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77057" y="4510706"/>
            <a:ext cx="661529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confirma el producto en el stock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37966" y="6335256"/>
            <a:ext cx="490939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Cliente confirma la compra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37966" y="7332186"/>
            <a:ext cx="661529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Pedido se registra para enviar a logistica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558138" y="5265594"/>
            <a:ext cx="7956973" cy="757926"/>
            <a:chOff x="0" y="0"/>
            <a:chExt cx="2095664" cy="19961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95664" cy="199618"/>
            </a:xfrm>
            <a:custGeom>
              <a:avLst/>
              <a:gdLst/>
              <a:ahLst/>
              <a:cxnLst/>
              <a:rect r="r" b="b" t="t" l="l"/>
              <a:pathLst>
                <a:path h="199618" w="2095664">
                  <a:moveTo>
                    <a:pt x="97297" y="0"/>
                  </a:moveTo>
                  <a:lnTo>
                    <a:pt x="1998366" y="0"/>
                  </a:lnTo>
                  <a:cubicBezTo>
                    <a:pt x="2024171" y="0"/>
                    <a:pt x="2048919" y="10251"/>
                    <a:pt x="2067166" y="28498"/>
                  </a:cubicBezTo>
                  <a:cubicBezTo>
                    <a:pt x="2085413" y="46745"/>
                    <a:pt x="2095664" y="71492"/>
                    <a:pt x="2095664" y="97297"/>
                  </a:cubicBezTo>
                  <a:lnTo>
                    <a:pt x="2095664" y="102321"/>
                  </a:lnTo>
                  <a:cubicBezTo>
                    <a:pt x="2095664" y="156057"/>
                    <a:pt x="2052102" y="199618"/>
                    <a:pt x="1998366" y="199618"/>
                  </a:cubicBezTo>
                  <a:lnTo>
                    <a:pt x="97297" y="199618"/>
                  </a:lnTo>
                  <a:cubicBezTo>
                    <a:pt x="43561" y="199618"/>
                    <a:pt x="0" y="156057"/>
                    <a:pt x="0" y="102321"/>
                  </a:cubicBezTo>
                  <a:lnTo>
                    <a:pt x="0" y="97297"/>
                  </a:lnTo>
                  <a:cubicBezTo>
                    <a:pt x="0" y="43561"/>
                    <a:pt x="43561" y="0"/>
                    <a:pt x="972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095664" cy="247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619047" y="5325551"/>
            <a:ext cx="633697" cy="633697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C3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537966" y="5421032"/>
            <a:ext cx="661529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Conversación natural para convencer al cliente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814254" y="1783646"/>
            <a:ext cx="563310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814254" y="2676489"/>
            <a:ext cx="563310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814254" y="3555933"/>
            <a:ext cx="563310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753345" y="4479093"/>
            <a:ext cx="563310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874986" y="5437044"/>
            <a:ext cx="563310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814254" y="6290220"/>
            <a:ext cx="563310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814254" y="7278729"/>
            <a:ext cx="563310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5927039" y="-1570982"/>
            <a:ext cx="9550384" cy="9550384"/>
          </a:xfrm>
          <a:custGeom>
            <a:avLst/>
            <a:gdLst/>
            <a:ahLst/>
            <a:cxnLst/>
            <a:rect r="r" b="b" t="t" l="l"/>
            <a:pathLst>
              <a:path h="9550384" w="9550384">
                <a:moveTo>
                  <a:pt x="0" y="0"/>
                </a:moveTo>
                <a:lnTo>
                  <a:pt x="9550384" y="0"/>
                </a:lnTo>
                <a:lnTo>
                  <a:pt x="9550384" y="9550384"/>
                </a:lnTo>
                <a:lnTo>
                  <a:pt x="0" y="955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958011" y="1247775"/>
            <a:ext cx="12521683" cy="123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16"/>
              </a:lnSpc>
              <a:spcBef>
                <a:spcPct val="0"/>
              </a:spcBef>
            </a:pPr>
            <a:r>
              <a:rPr lang="en-US" b="true" sz="9600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DEMOSTRACÓN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01556" y="0"/>
            <a:ext cx="13409279" cy="12312156"/>
          </a:xfrm>
          <a:custGeom>
            <a:avLst/>
            <a:gdLst/>
            <a:ahLst/>
            <a:cxnLst/>
            <a:rect r="r" b="b" t="t" l="l"/>
            <a:pathLst>
              <a:path h="12312156" w="13409279">
                <a:moveTo>
                  <a:pt x="0" y="0"/>
                </a:moveTo>
                <a:lnTo>
                  <a:pt x="13409279" y="0"/>
                </a:lnTo>
                <a:lnTo>
                  <a:pt x="13409279" y="12312156"/>
                </a:lnTo>
                <a:lnTo>
                  <a:pt x="0" y="1231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15530"/>
            <a:ext cx="1166267" cy="1119616"/>
          </a:xfrm>
          <a:custGeom>
            <a:avLst/>
            <a:gdLst/>
            <a:ahLst/>
            <a:cxnLst/>
            <a:rect r="r" b="b" t="t" l="l"/>
            <a:pathLst>
              <a:path h="1119616" w="1166267">
                <a:moveTo>
                  <a:pt x="0" y="0"/>
                </a:moveTo>
                <a:lnTo>
                  <a:pt x="1166267" y="0"/>
                </a:lnTo>
                <a:lnTo>
                  <a:pt x="1166267" y="1119616"/>
                </a:lnTo>
                <a:lnTo>
                  <a:pt x="0" y="111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39150" y="2452544"/>
            <a:ext cx="8041447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E-commerce con v</a:t>
            </a: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entas telefónicas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5313" y="4088260"/>
            <a:ext cx="7113129" cy="32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88"/>
              </a:lnSpc>
              <a:spcBef>
                <a:spcPct val="0"/>
              </a:spcBef>
            </a:pPr>
            <a:r>
              <a:rPr lang="en-US" b="true" sz="5300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UN MERCADO ENO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 QUE 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ÚN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DEPENDE DE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T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</a:t>
            </a:r>
            <a:r>
              <a:rPr lang="en-US" b="true" sz="5300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LÉFONO</a:t>
            </a:r>
          </a:p>
          <a:p>
            <a:pPr algn="l" marL="0" indent="0" lvl="0">
              <a:lnSpc>
                <a:spcPts val="508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950387" y="3837272"/>
            <a:ext cx="6130210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Restaura</a:t>
            </a: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ntes y domicilios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79954" y="5866836"/>
            <a:ext cx="6130210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Farm</a:t>
            </a: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acias y Retail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2600" y="4917517"/>
            <a:ext cx="6130210" cy="106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</a:t>
            </a: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icios y reservas</a:t>
            </a:r>
          </a:p>
          <a:p>
            <a:pPr algn="l">
              <a:lnSpc>
                <a:spcPts val="43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479134" y="6951172"/>
            <a:ext cx="7801640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Empresas </a:t>
            </a: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 call centers de ventas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58177" y="-1997730"/>
            <a:ext cx="7802246" cy="7802246"/>
          </a:xfrm>
          <a:custGeom>
            <a:avLst/>
            <a:gdLst/>
            <a:ahLst/>
            <a:cxnLst/>
            <a:rect r="r" b="b" t="t" l="l"/>
            <a:pathLst>
              <a:path h="7802246" w="7802246">
                <a:moveTo>
                  <a:pt x="0" y="0"/>
                </a:moveTo>
                <a:lnTo>
                  <a:pt x="7802246" y="0"/>
                </a:lnTo>
                <a:lnTo>
                  <a:pt x="7802246" y="7802246"/>
                </a:lnTo>
                <a:lnTo>
                  <a:pt x="0" y="780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4994" y="4166148"/>
            <a:ext cx="6073783" cy="9739302"/>
          </a:xfrm>
          <a:custGeom>
            <a:avLst/>
            <a:gdLst/>
            <a:ahLst/>
            <a:cxnLst/>
            <a:rect r="r" b="b" t="t" l="l"/>
            <a:pathLst>
              <a:path h="9739302" w="6073783">
                <a:moveTo>
                  <a:pt x="0" y="0"/>
                </a:moveTo>
                <a:lnTo>
                  <a:pt x="6073783" y="0"/>
                </a:lnTo>
                <a:lnTo>
                  <a:pt x="6073783" y="9739301"/>
                </a:lnTo>
                <a:lnTo>
                  <a:pt x="0" y="973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1839" y="4105693"/>
            <a:ext cx="12336338" cy="251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21"/>
              </a:lnSpc>
              <a:spcBef>
                <a:spcPct val="0"/>
              </a:spcBef>
            </a:pPr>
            <a:r>
              <a:rPr lang="en-US" b="true" sz="19396" strike="noStrike" u="none">
                <a:solidFill>
                  <a:srgbClr val="1825C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DAHDHYXQIJs</dc:identifier>
  <dcterms:modified xsi:type="dcterms:W3CDTF">2011-08-01T06:04:30Z</dcterms:modified>
  <cp:revision>1</cp:revision>
  <dc:title>Keepcoding projecto Final</dc:title>
</cp:coreProperties>
</file>