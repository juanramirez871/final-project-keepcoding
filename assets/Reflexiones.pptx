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</p:sldIdLst>
  <p:sldSz cx="18288000" cy="10287000"/>
  <p:notesSz cx="6858000" cy="9144000"/>
  <p:embeddedFontLst>
    <p:embeddedFont>
      <p:font typeface="Body Grotesque Fit Bold" charset="1" panose="02000503040000020004"/>
      <p:regular r:id="rId12"/>
    </p:embeddedFont>
    <p:embeddedFont>
      <p:font typeface="Body Grotesque Fit" charset="1" panose="02000503040000020004"/>
      <p:regular r:id="rId1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fonts/font12.fntdata" Type="http://schemas.openxmlformats.org/officeDocument/2006/relationships/font"/><Relationship Id="rId13" Target="fonts/font13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AF2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7624898" y="0"/>
            <a:ext cx="10230889" cy="10287000"/>
          </a:xfrm>
          <a:custGeom>
            <a:avLst/>
            <a:gdLst/>
            <a:ahLst/>
            <a:cxnLst/>
            <a:rect r="r" b="b" t="t" l="l"/>
            <a:pathLst>
              <a:path h="10287000" w="10230889">
                <a:moveTo>
                  <a:pt x="10230889" y="0"/>
                </a:moveTo>
                <a:lnTo>
                  <a:pt x="0" y="0"/>
                </a:lnTo>
                <a:lnTo>
                  <a:pt x="0" y="10287000"/>
                </a:lnTo>
                <a:lnTo>
                  <a:pt x="10230889" y="10287000"/>
                </a:lnTo>
                <a:lnTo>
                  <a:pt x="10230889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2303018" y="4051685"/>
            <a:ext cx="13681964" cy="14174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647"/>
              </a:lnSpc>
            </a:pPr>
            <a:r>
              <a:rPr lang="en-US" b="true" sz="8319">
                <a:solidFill>
                  <a:srgbClr val="6B7280"/>
                </a:solidFill>
                <a:latin typeface="Body Grotesque Fit Bold"/>
                <a:ea typeface="Body Grotesque Fit Bold"/>
                <a:cs typeface="Body Grotesque Fit Bold"/>
                <a:sym typeface="Body Grotesque Fit Bold"/>
              </a:rPr>
              <a:t>REFLEXIONES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012514" y="1028700"/>
            <a:ext cx="10856665" cy="1283464"/>
            <a:chOff x="0" y="0"/>
            <a:chExt cx="2859368" cy="33803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859368" cy="338032"/>
            </a:xfrm>
            <a:custGeom>
              <a:avLst/>
              <a:gdLst/>
              <a:ahLst/>
              <a:cxnLst/>
              <a:rect r="r" b="b" t="t" l="l"/>
              <a:pathLst>
                <a:path h="338032" w="2859368">
                  <a:moveTo>
                    <a:pt x="71310" y="0"/>
                  </a:moveTo>
                  <a:lnTo>
                    <a:pt x="2788058" y="0"/>
                  </a:lnTo>
                  <a:cubicBezTo>
                    <a:pt x="2827442" y="0"/>
                    <a:pt x="2859368" y="31927"/>
                    <a:pt x="2859368" y="71310"/>
                  </a:cubicBezTo>
                  <a:lnTo>
                    <a:pt x="2859368" y="266721"/>
                  </a:lnTo>
                  <a:cubicBezTo>
                    <a:pt x="2859368" y="285634"/>
                    <a:pt x="2851855" y="303772"/>
                    <a:pt x="2838482" y="317145"/>
                  </a:cubicBezTo>
                  <a:cubicBezTo>
                    <a:pt x="2825109" y="330519"/>
                    <a:pt x="2806971" y="338032"/>
                    <a:pt x="2788058" y="338032"/>
                  </a:cubicBezTo>
                  <a:lnTo>
                    <a:pt x="71310" y="338032"/>
                  </a:lnTo>
                  <a:cubicBezTo>
                    <a:pt x="52398" y="338032"/>
                    <a:pt x="34260" y="330519"/>
                    <a:pt x="20886" y="317145"/>
                  </a:cubicBezTo>
                  <a:cubicBezTo>
                    <a:pt x="7513" y="303772"/>
                    <a:pt x="0" y="285634"/>
                    <a:pt x="0" y="266721"/>
                  </a:cubicBezTo>
                  <a:lnTo>
                    <a:pt x="0" y="71310"/>
                  </a:lnTo>
                  <a:cubicBezTo>
                    <a:pt x="0" y="31927"/>
                    <a:pt x="31927" y="0"/>
                    <a:pt x="71310" y="0"/>
                  </a:cubicBezTo>
                  <a:close/>
                </a:path>
              </a:pathLst>
            </a:custGeom>
            <a:solidFill>
              <a:srgbClr val="EAF2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2859368" cy="39518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84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0" y="9492721"/>
            <a:ext cx="18288000" cy="794279"/>
            <a:chOff x="0" y="0"/>
            <a:chExt cx="4816593" cy="20919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816592" cy="209193"/>
            </a:xfrm>
            <a:custGeom>
              <a:avLst/>
              <a:gdLst/>
              <a:ahLst/>
              <a:cxnLst/>
              <a:rect r="r" b="b" t="t" l="l"/>
              <a:pathLst>
                <a:path h="209193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209193"/>
                  </a:lnTo>
                  <a:lnTo>
                    <a:pt x="0" y="209193"/>
                  </a:lnTo>
                  <a:close/>
                </a:path>
              </a:pathLst>
            </a:custGeom>
            <a:gradFill rotWithShape="true">
              <a:gsLst>
                <a:gs pos="0">
                  <a:srgbClr val="E9F2FF">
                    <a:alpha val="100000"/>
                  </a:srgbClr>
                </a:gs>
                <a:gs pos="100000">
                  <a:srgbClr val="A5C1F0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7" id="7"/>
            <p:cNvSpPr txBox="true"/>
            <p:nvPr/>
          </p:nvSpPr>
          <p:spPr>
            <a:xfrm>
              <a:off x="0" y="-57150"/>
              <a:ext cx="4816593" cy="26634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84"/>
                </a:lnSpc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347927" y="2805536"/>
            <a:ext cx="15044269" cy="61366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85048" indent="-342524" lvl="1">
              <a:lnSpc>
                <a:spcPts val="4442"/>
              </a:lnSpc>
              <a:buFont typeface="Arial"/>
              <a:buChar char="•"/>
            </a:pPr>
            <a:r>
              <a:rPr lang="en-US" sz="3172">
                <a:solidFill>
                  <a:srgbClr val="6B7280"/>
                </a:solidFill>
                <a:latin typeface="Body Grotesque Fit"/>
                <a:ea typeface="Body Grotesque Fit"/>
                <a:cs typeface="Body Grotesque Fit"/>
                <a:sym typeface="Body Grotesque Fit"/>
              </a:rPr>
              <a:t>Comprender cómo constr</a:t>
            </a:r>
            <a:r>
              <a:rPr lang="en-US" sz="3172">
                <a:solidFill>
                  <a:srgbClr val="6B7280"/>
                </a:solidFill>
                <a:latin typeface="Body Grotesque Fit"/>
                <a:ea typeface="Body Grotesque Fit"/>
                <a:cs typeface="Body Grotesque Fit"/>
                <a:sym typeface="Body Grotesque Fit"/>
              </a:rPr>
              <a:t>ui</a:t>
            </a:r>
            <a:r>
              <a:rPr lang="en-US" sz="3172">
                <a:solidFill>
                  <a:srgbClr val="6B7280"/>
                </a:solidFill>
                <a:latin typeface="Body Grotesque Fit"/>
                <a:ea typeface="Body Grotesque Fit"/>
                <a:cs typeface="Body Grotesque Fit"/>
                <a:sym typeface="Body Grotesque Fit"/>
              </a:rPr>
              <a:t>r un sistema de IA completo, integrando voz, modelos de lenguaje, RAG, reconocimiento de voz y telefonía en una sola arquitectura.</a:t>
            </a:r>
          </a:p>
          <a:p>
            <a:pPr algn="l">
              <a:lnSpc>
                <a:spcPts val="4442"/>
              </a:lnSpc>
            </a:pPr>
          </a:p>
          <a:p>
            <a:pPr algn="l" marL="685048" indent="-342524" lvl="1">
              <a:lnSpc>
                <a:spcPts val="4442"/>
              </a:lnSpc>
              <a:buFont typeface="Arial"/>
              <a:buChar char="•"/>
            </a:pPr>
            <a:r>
              <a:rPr lang="en-US" sz="3172">
                <a:solidFill>
                  <a:srgbClr val="6B7280"/>
                </a:solidFill>
                <a:latin typeface="Body Grotesque Fit"/>
                <a:ea typeface="Body Grotesque Fit"/>
                <a:cs typeface="Body Grotesque Fit"/>
                <a:sym typeface="Body Grotesque Fit"/>
              </a:rPr>
              <a:t>Aprender que en </a:t>
            </a:r>
            <a:r>
              <a:rPr lang="en-US" sz="3172">
                <a:solidFill>
                  <a:srgbClr val="6B7280"/>
                </a:solidFill>
                <a:latin typeface="Body Grotesque Fit"/>
                <a:ea typeface="Body Grotesque Fit"/>
                <a:cs typeface="Body Grotesque Fit"/>
                <a:sym typeface="Body Grotesque Fit"/>
              </a:rPr>
              <a:t>p</a:t>
            </a:r>
            <a:r>
              <a:rPr lang="en-US" sz="3172">
                <a:solidFill>
                  <a:srgbClr val="6B7280"/>
                </a:solidFill>
                <a:latin typeface="Body Grotesque Fit"/>
                <a:ea typeface="Body Grotesque Fit"/>
                <a:cs typeface="Body Grotesque Fit"/>
                <a:sym typeface="Body Grotesque Fit"/>
              </a:rPr>
              <a:t>r</a:t>
            </a:r>
            <a:r>
              <a:rPr lang="en-US" sz="3172">
                <a:solidFill>
                  <a:srgbClr val="6B7280"/>
                </a:solidFill>
                <a:latin typeface="Body Grotesque Fit"/>
                <a:ea typeface="Body Grotesque Fit"/>
                <a:cs typeface="Body Grotesque Fit"/>
                <a:sym typeface="Body Grotesque Fit"/>
              </a:rPr>
              <a:t>o</a:t>
            </a:r>
            <a:r>
              <a:rPr lang="en-US" sz="3172">
                <a:solidFill>
                  <a:srgbClr val="6B7280"/>
                </a:solidFill>
                <a:latin typeface="Body Grotesque Fit"/>
                <a:ea typeface="Body Grotesque Fit"/>
                <a:cs typeface="Body Grotesque Fit"/>
                <a:sym typeface="Body Grotesque Fit"/>
              </a:rPr>
              <a:t>yec</a:t>
            </a:r>
            <a:r>
              <a:rPr lang="en-US" sz="3172">
                <a:solidFill>
                  <a:srgbClr val="6B7280"/>
                </a:solidFill>
                <a:latin typeface="Body Grotesque Fit"/>
                <a:ea typeface="Body Grotesque Fit"/>
                <a:cs typeface="Body Grotesque Fit"/>
                <a:sym typeface="Body Grotesque Fit"/>
              </a:rPr>
              <a:t>to</a:t>
            </a:r>
            <a:r>
              <a:rPr lang="en-US" sz="3172">
                <a:solidFill>
                  <a:srgbClr val="6B7280"/>
                </a:solidFill>
                <a:latin typeface="Body Grotesque Fit"/>
                <a:ea typeface="Body Grotesque Fit"/>
                <a:cs typeface="Body Grotesque Fit"/>
                <a:sym typeface="Body Grotesque Fit"/>
              </a:rPr>
              <a:t>s</a:t>
            </a:r>
            <a:r>
              <a:rPr lang="en-US" sz="3172">
                <a:solidFill>
                  <a:srgbClr val="6B7280"/>
                </a:solidFill>
                <a:latin typeface="Body Grotesque Fit"/>
                <a:ea typeface="Body Grotesque Fit"/>
                <a:cs typeface="Body Grotesque Fit"/>
                <a:sym typeface="Body Grotesque Fit"/>
              </a:rPr>
              <a:t> reales no solo importa el modelo, sino cómo se conecta con APIs, servidores y sistemas externos.</a:t>
            </a:r>
          </a:p>
          <a:p>
            <a:pPr algn="l">
              <a:lnSpc>
                <a:spcPts val="4442"/>
              </a:lnSpc>
            </a:pPr>
          </a:p>
          <a:p>
            <a:pPr algn="l" marL="685048" indent="-342524" lvl="1">
              <a:lnSpc>
                <a:spcPts val="4442"/>
              </a:lnSpc>
              <a:buFont typeface="Arial"/>
              <a:buChar char="•"/>
            </a:pPr>
            <a:r>
              <a:rPr lang="en-US" sz="3172">
                <a:solidFill>
                  <a:srgbClr val="6B7280"/>
                </a:solidFill>
                <a:latin typeface="Body Grotesque Fit"/>
                <a:ea typeface="Body Grotesque Fit"/>
                <a:cs typeface="Body Grotesque Fit"/>
                <a:sym typeface="Body Grotesque Fit"/>
              </a:rPr>
              <a:t>Entender los desafíos reales de la IA aplica: latencia, infraestructura, compatibilidad de librerías y optimización de recursos y mucho mas que entrenar un modelo.</a:t>
            </a:r>
          </a:p>
          <a:p>
            <a:pPr algn="l">
              <a:lnSpc>
                <a:spcPts val="4442"/>
              </a:lnSpc>
            </a:pPr>
          </a:p>
        </p:txBody>
      </p:sp>
      <p:sp>
        <p:nvSpPr>
          <p:cNvPr name="TextBox 9" id="9"/>
          <p:cNvSpPr txBox="true"/>
          <p:nvPr/>
        </p:nvSpPr>
        <p:spPr>
          <a:xfrm rot="0">
            <a:off x="154722" y="1060580"/>
            <a:ext cx="9557909" cy="12515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b="true" sz="3600" spc="-180">
                <a:solidFill>
                  <a:srgbClr val="6B7280"/>
                </a:solidFill>
                <a:latin typeface="Body Grotesque Fit Bold"/>
                <a:ea typeface="Body Grotesque Fit Bold"/>
                <a:cs typeface="Body Grotesque Fit Bold"/>
                <a:sym typeface="Body Grotesque Fit Bold"/>
              </a:rPr>
              <a:t>¿QUÉ  HA APORTADO D</a:t>
            </a:r>
            <a:r>
              <a:rPr lang="en-US" b="true" sz="3600" spc="-180">
                <a:solidFill>
                  <a:srgbClr val="6B7280"/>
                </a:solidFill>
                <a:latin typeface="Body Grotesque Fit Bold"/>
                <a:ea typeface="Body Grotesque Fit Bold"/>
                <a:cs typeface="Body Grotesque Fit Bold"/>
                <a:sym typeface="Body Grotesque Fit Bold"/>
              </a:rPr>
              <a:t>ESARROLLAR ESTE PROYECTO?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012514" y="695579"/>
            <a:ext cx="9861288" cy="1301485"/>
            <a:chOff x="0" y="0"/>
            <a:chExt cx="2597212" cy="34277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597212" cy="342778"/>
            </a:xfrm>
            <a:custGeom>
              <a:avLst/>
              <a:gdLst/>
              <a:ahLst/>
              <a:cxnLst/>
              <a:rect r="r" b="b" t="t" l="l"/>
              <a:pathLst>
                <a:path h="342778" w="2597212">
                  <a:moveTo>
                    <a:pt x="78508" y="0"/>
                  </a:moveTo>
                  <a:lnTo>
                    <a:pt x="2518703" y="0"/>
                  </a:lnTo>
                  <a:cubicBezTo>
                    <a:pt x="2562062" y="0"/>
                    <a:pt x="2597212" y="35149"/>
                    <a:pt x="2597212" y="78508"/>
                  </a:cubicBezTo>
                  <a:lnTo>
                    <a:pt x="2597212" y="264270"/>
                  </a:lnTo>
                  <a:cubicBezTo>
                    <a:pt x="2597212" y="285091"/>
                    <a:pt x="2588940" y="305060"/>
                    <a:pt x="2574217" y="319783"/>
                  </a:cubicBezTo>
                  <a:cubicBezTo>
                    <a:pt x="2559494" y="334507"/>
                    <a:pt x="2539525" y="342778"/>
                    <a:pt x="2518703" y="342778"/>
                  </a:cubicBezTo>
                  <a:lnTo>
                    <a:pt x="78508" y="342778"/>
                  </a:lnTo>
                  <a:cubicBezTo>
                    <a:pt x="57687" y="342778"/>
                    <a:pt x="37718" y="334507"/>
                    <a:pt x="22995" y="319783"/>
                  </a:cubicBezTo>
                  <a:cubicBezTo>
                    <a:pt x="8271" y="305060"/>
                    <a:pt x="0" y="285091"/>
                    <a:pt x="0" y="264270"/>
                  </a:cubicBezTo>
                  <a:lnTo>
                    <a:pt x="0" y="78508"/>
                  </a:lnTo>
                  <a:cubicBezTo>
                    <a:pt x="0" y="57687"/>
                    <a:pt x="8271" y="37718"/>
                    <a:pt x="22995" y="22995"/>
                  </a:cubicBezTo>
                  <a:cubicBezTo>
                    <a:pt x="37718" y="8271"/>
                    <a:pt x="57687" y="0"/>
                    <a:pt x="78508" y="0"/>
                  </a:cubicBezTo>
                  <a:close/>
                </a:path>
              </a:pathLst>
            </a:custGeom>
            <a:solidFill>
              <a:srgbClr val="EAF2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2597212" cy="39992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84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0" y="9492721"/>
            <a:ext cx="18288000" cy="794279"/>
            <a:chOff x="0" y="0"/>
            <a:chExt cx="4816593" cy="20919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816592" cy="209193"/>
            </a:xfrm>
            <a:custGeom>
              <a:avLst/>
              <a:gdLst/>
              <a:ahLst/>
              <a:cxnLst/>
              <a:rect r="r" b="b" t="t" l="l"/>
              <a:pathLst>
                <a:path h="209193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209193"/>
                  </a:lnTo>
                  <a:lnTo>
                    <a:pt x="0" y="209193"/>
                  </a:lnTo>
                  <a:close/>
                </a:path>
              </a:pathLst>
            </a:custGeom>
            <a:gradFill rotWithShape="true">
              <a:gsLst>
                <a:gs pos="0">
                  <a:srgbClr val="E9F2FF">
                    <a:alpha val="100000"/>
                  </a:srgbClr>
                </a:gs>
                <a:gs pos="100000">
                  <a:srgbClr val="A5C1F0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7" id="7"/>
            <p:cNvSpPr txBox="true"/>
            <p:nvPr/>
          </p:nvSpPr>
          <p:spPr>
            <a:xfrm>
              <a:off x="0" y="-57150"/>
              <a:ext cx="4816593" cy="26634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84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90604" y="3420917"/>
            <a:ext cx="9116630" cy="4754131"/>
            <a:chOff x="0" y="0"/>
            <a:chExt cx="2401088" cy="1252117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401088" cy="1252117"/>
            </a:xfrm>
            <a:custGeom>
              <a:avLst/>
              <a:gdLst/>
              <a:ahLst/>
              <a:cxnLst/>
              <a:rect r="r" b="b" t="t" l="l"/>
              <a:pathLst>
                <a:path h="1252117" w="2401088">
                  <a:moveTo>
                    <a:pt x="62841" y="0"/>
                  </a:moveTo>
                  <a:lnTo>
                    <a:pt x="2338246" y="0"/>
                  </a:lnTo>
                  <a:cubicBezTo>
                    <a:pt x="2354913" y="0"/>
                    <a:pt x="2370897" y="6621"/>
                    <a:pt x="2382682" y="18406"/>
                  </a:cubicBezTo>
                  <a:cubicBezTo>
                    <a:pt x="2394467" y="30191"/>
                    <a:pt x="2401088" y="46175"/>
                    <a:pt x="2401088" y="62841"/>
                  </a:cubicBezTo>
                  <a:lnTo>
                    <a:pt x="2401088" y="1189275"/>
                  </a:lnTo>
                  <a:cubicBezTo>
                    <a:pt x="2401088" y="1205942"/>
                    <a:pt x="2394467" y="1221926"/>
                    <a:pt x="2382682" y="1233711"/>
                  </a:cubicBezTo>
                  <a:cubicBezTo>
                    <a:pt x="2370897" y="1245496"/>
                    <a:pt x="2354913" y="1252117"/>
                    <a:pt x="2338246" y="1252117"/>
                  </a:cubicBezTo>
                  <a:lnTo>
                    <a:pt x="62841" y="1252117"/>
                  </a:lnTo>
                  <a:cubicBezTo>
                    <a:pt x="28135" y="1252117"/>
                    <a:pt x="0" y="1223982"/>
                    <a:pt x="0" y="1189275"/>
                  </a:cubicBezTo>
                  <a:lnTo>
                    <a:pt x="0" y="62841"/>
                  </a:lnTo>
                  <a:cubicBezTo>
                    <a:pt x="0" y="46175"/>
                    <a:pt x="6621" y="30191"/>
                    <a:pt x="18406" y="18406"/>
                  </a:cubicBezTo>
                  <a:cubicBezTo>
                    <a:pt x="30191" y="6621"/>
                    <a:pt x="46175" y="0"/>
                    <a:pt x="62841" y="0"/>
                  </a:cubicBezTo>
                  <a:close/>
                </a:path>
              </a:pathLst>
            </a:custGeom>
            <a:solidFill>
              <a:srgbClr val="EAF2FF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57150"/>
              <a:ext cx="2401088" cy="13092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84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9701864" y="3420917"/>
            <a:ext cx="8387254" cy="4823056"/>
            <a:chOff x="0" y="0"/>
            <a:chExt cx="2208989" cy="127027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208989" cy="1270270"/>
            </a:xfrm>
            <a:custGeom>
              <a:avLst/>
              <a:gdLst/>
              <a:ahLst/>
              <a:cxnLst/>
              <a:rect r="r" b="b" t="t" l="l"/>
              <a:pathLst>
                <a:path h="1270270" w="2208989">
                  <a:moveTo>
                    <a:pt x="68306" y="0"/>
                  </a:moveTo>
                  <a:lnTo>
                    <a:pt x="2140682" y="0"/>
                  </a:lnTo>
                  <a:cubicBezTo>
                    <a:pt x="2158798" y="0"/>
                    <a:pt x="2176172" y="7197"/>
                    <a:pt x="2188982" y="20006"/>
                  </a:cubicBezTo>
                  <a:cubicBezTo>
                    <a:pt x="2201792" y="32816"/>
                    <a:pt x="2208989" y="50190"/>
                    <a:pt x="2208989" y="68306"/>
                  </a:cubicBezTo>
                  <a:lnTo>
                    <a:pt x="2208989" y="1201964"/>
                  </a:lnTo>
                  <a:cubicBezTo>
                    <a:pt x="2208989" y="1220080"/>
                    <a:pt x="2201792" y="1237454"/>
                    <a:pt x="2188982" y="1250264"/>
                  </a:cubicBezTo>
                  <a:cubicBezTo>
                    <a:pt x="2176172" y="1263073"/>
                    <a:pt x="2158798" y="1270270"/>
                    <a:pt x="2140682" y="1270270"/>
                  </a:cubicBezTo>
                  <a:lnTo>
                    <a:pt x="68306" y="1270270"/>
                  </a:lnTo>
                  <a:cubicBezTo>
                    <a:pt x="50190" y="1270270"/>
                    <a:pt x="32816" y="1263073"/>
                    <a:pt x="20006" y="1250264"/>
                  </a:cubicBezTo>
                  <a:cubicBezTo>
                    <a:pt x="7197" y="1237454"/>
                    <a:pt x="0" y="1220080"/>
                    <a:pt x="0" y="1201964"/>
                  </a:cubicBezTo>
                  <a:lnTo>
                    <a:pt x="0" y="68306"/>
                  </a:lnTo>
                  <a:cubicBezTo>
                    <a:pt x="0" y="50190"/>
                    <a:pt x="7197" y="32816"/>
                    <a:pt x="20006" y="20006"/>
                  </a:cubicBezTo>
                  <a:cubicBezTo>
                    <a:pt x="32816" y="7197"/>
                    <a:pt x="50190" y="0"/>
                    <a:pt x="68306" y="0"/>
                  </a:cubicBezTo>
                  <a:close/>
                </a:path>
              </a:pathLst>
            </a:custGeom>
            <a:solidFill>
              <a:srgbClr val="EAF2FF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57150"/>
              <a:ext cx="2208989" cy="132742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84"/>
                </a:lnSpc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344265" y="745479"/>
            <a:ext cx="8379855" cy="12515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b="true" sz="3600" spc="-179">
                <a:solidFill>
                  <a:srgbClr val="6B7280"/>
                </a:solidFill>
                <a:latin typeface="Body Grotesque Fit Bold"/>
                <a:ea typeface="Body Grotesque Fit Bold"/>
                <a:cs typeface="Body Grotesque Fit Bold"/>
                <a:sym typeface="Body Grotesque Fit Bold"/>
              </a:rPr>
              <a:t>¿QUÉ NO VOLVERÍAS A HACER DE LA MISMA MANERA?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346129" y="3800658"/>
            <a:ext cx="8618344" cy="40211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84"/>
              </a:lnSpc>
              <a:spcBef>
                <a:spcPct val="0"/>
              </a:spcBef>
            </a:pPr>
            <a:r>
              <a:rPr lang="en-US" sz="2560">
                <a:solidFill>
                  <a:srgbClr val="6B7280"/>
                </a:solidFill>
                <a:latin typeface="Body Grotesque Fit"/>
                <a:ea typeface="Body Grotesque Fit"/>
                <a:cs typeface="Body Grotesque Fit"/>
                <a:sym typeface="Body Grotesque Fit"/>
              </a:rPr>
              <a:t>No co</a:t>
            </a:r>
            <a:r>
              <a:rPr lang="en-US" sz="2560">
                <a:solidFill>
                  <a:srgbClr val="6B7280"/>
                </a:solidFill>
                <a:latin typeface="Body Grotesque Fit"/>
                <a:ea typeface="Body Grotesque Fit"/>
                <a:cs typeface="Body Grotesque Fit"/>
                <a:sym typeface="Body Grotesque Fit"/>
              </a:rPr>
              <a:t>nsiderar desde el inicio las limitaciones del entorno de cómputo</a:t>
            </a:r>
          </a:p>
          <a:p>
            <a:pPr algn="ctr">
              <a:lnSpc>
                <a:spcPts val="3584"/>
              </a:lnSpc>
              <a:spcBef>
                <a:spcPct val="0"/>
              </a:spcBef>
            </a:pPr>
            <a:r>
              <a:rPr lang="en-US" sz="2560">
                <a:solidFill>
                  <a:srgbClr val="6B7280"/>
                </a:solidFill>
                <a:latin typeface="Body Grotesque Fit"/>
                <a:ea typeface="Body Grotesque Fit"/>
                <a:cs typeface="Body Grotesque Fit"/>
                <a:sym typeface="Body Grotesque Fit"/>
              </a:rPr>
              <a:t> No evalue correctamente la capacidad de hardware disponible para entrenar los modelos. Esto hizo que algunos entrenamientos fueran demasiado largos o poco viables. En futuros proyectos primero analizaría los recursos de cómputo que me encuentro y ajustaríamos el tamaño del modelo y del dataset para optimizar tiempos y eficiencia.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9701864" y="3819708"/>
            <a:ext cx="8387254" cy="38992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1"/>
              </a:lnSpc>
              <a:spcBef>
                <a:spcPct val="0"/>
              </a:spcBef>
            </a:pPr>
            <a:r>
              <a:rPr lang="en-US" sz="2494">
                <a:solidFill>
                  <a:srgbClr val="6B7280"/>
                </a:solidFill>
                <a:latin typeface="Body Grotesque Fit"/>
                <a:ea typeface="Body Grotesque Fit"/>
                <a:cs typeface="Body Grotesque Fit"/>
                <a:sym typeface="Body Grotesque Fit"/>
              </a:rPr>
              <a:t>Problema</a:t>
            </a:r>
            <a:r>
              <a:rPr lang="en-US" sz="2494">
                <a:solidFill>
                  <a:srgbClr val="6B7280"/>
                </a:solidFill>
                <a:latin typeface="Body Grotesque Fit"/>
                <a:ea typeface="Body Grotesque Fit"/>
                <a:cs typeface="Body Grotesque Fit"/>
                <a:sym typeface="Body Grotesque Fit"/>
              </a:rPr>
              <a:t>s de compatibilidad entre librerías y modelos. Durante el desarrollo surgieron muchas dificultades relacionadas con la compatibilidad entre versiones de librerías, modelos base y procesos de entrenamiento. Aprendi que antes de comenzar a entrenar es fundamental verificar qué versiones de dependencias son compatibles entre sí. Además, cada proceso de entrenamiento debería ejecutarse en un entorno aislado para evitar conflictos de versiones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4388859" y="2846177"/>
            <a:ext cx="873781" cy="873781"/>
            <a:chOff x="0" y="0"/>
            <a:chExt cx="1165041" cy="1165041"/>
          </a:xfrm>
        </p:grpSpPr>
        <p:grpSp>
          <p:nvGrpSpPr>
            <p:cNvPr name="Group 18" id="18"/>
            <p:cNvGrpSpPr/>
            <p:nvPr/>
          </p:nvGrpSpPr>
          <p:grpSpPr>
            <a:xfrm rot="0">
              <a:off x="0" y="0"/>
              <a:ext cx="1165041" cy="1165041"/>
              <a:chOff x="0" y="0"/>
              <a:chExt cx="812800" cy="812800"/>
            </a:xfrm>
          </p:grpSpPr>
          <p:sp>
            <p:nvSpPr>
              <p:cNvPr name="Freeform 19" id="19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A2BFEF"/>
              </a:solidFill>
            </p:spPr>
          </p:sp>
          <p:sp>
            <p:nvSpPr>
              <p:cNvPr name="TextBox 20" id="20"/>
              <p:cNvSpPr txBox="true"/>
              <p:nvPr/>
            </p:nvSpPr>
            <p:spPr>
              <a:xfrm>
                <a:off x="76200" y="19050"/>
                <a:ext cx="660400" cy="7175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584"/>
                  </a:lnSpc>
                </a:pPr>
              </a:p>
            </p:txBody>
          </p:sp>
        </p:grpSp>
        <p:sp>
          <p:nvSpPr>
            <p:cNvPr name="Freeform 21" id="21"/>
            <p:cNvSpPr/>
            <p:nvPr/>
          </p:nvSpPr>
          <p:spPr>
            <a:xfrm flipH="false" flipV="false" rot="0">
              <a:off x="224292" y="243594"/>
              <a:ext cx="711487" cy="677853"/>
            </a:xfrm>
            <a:custGeom>
              <a:avLst/>
              <a:gdLst/>
              <a:ahLst/>
              <a:cxnLst/>
              <a:rect r="r" b="b" t="t" l="l"/>
              <a:pathLst>
                <a:path h="677853" w="711487">
                  <a:moveTo>
                    <a:pt x="0" y="0"/>
                  </a:moveTo>
                  <a:lnTo>
                    <a:pt x="711487" y="0"/>
                  </a:lnTo>
                  <a:lnTo>
                    <a:pt x="711487" y="677853"/>
                  </a:lnTo>
                  <a:lnTo>
                    <a:pt x="0" y="67785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13713528" y="2949564"/>
            <a:ext cx="873781" cy="873781"/>
            <a:chOff x="0" y="0"/>
            <a:chExt cx="1165041" cy="1165041"/>
          </a:xfrm>
        </p:grpSpPr>
        <p:grpSp>
          <p:nvGrpSpPr>
            <p:cNvPr name="Group 23" id="23"/>
            <p:cNvGrpSpPr/>
            <p:nvPr/>
          </p:nvGrpSpPr>
          <p:grpSpPr>
            <a:xfrm rot="0">
              <a:off x="0" y="0"/>
              <a:ext cx="1165041" cy="1165041"/>
              <a:chOff x="0" y="0"/>
              <a:chExt cx="812800" cy="812800"/>
            </a:xfrm>
          </p:grpSpPr>
          <p:sp>
            <p:nvSpPr>
              <p:cNvPr name="Freeform 24" id="24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A2BFEF"/>
              </a:solidFill>
            </p:spPr>
          </p:sp>
          <p:sp>
            <p:nvSpPr>
              <p:cNvPr name="TextBox 25" id="25"/>
              <p:cNvSpPr txBox="true"/>
              <p:nvPr/>
            </p:nvSpPr>
            <p:spPr>
              <a:xfrm>
                <a:off x="76200" y="19050"/>
                <a:ext cx="660400" cy="7175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584"/>
                  </a:lnSpc>
                </a:pPr>
              </a:p>
            </p:txBody>
          </p:sp>
        </p:grpSp>
        <p:sp>
          <p:nvSpPr>
            <p:cNvPr name="Freeform 26" id="26"/>
            <p:cNvSpPr/>
            <p:nvPr/>
          </p:nvSpPr>
          <p:spPr>
            <a:xfrm flipH="false" flipV="false" rot="0">
              <a:off x="224292" y="243594"/>
              <a:ext cx="711487" cy="677853"/>
            </a:xfrm>
            <a:custGeom>
              <a:avLst/>
              <a:gdLst/>
              <a:ahLst/>
              <a:cxnLst/>
              <a:rect r="r" b="b" t="t" l="l"/>
              <a:pathLst>
                <a:path h="677853" w="711487">
                  <a:moveTo>
                    <a:pt x="0" y="0"/>
                  </a:moveTo>
                  <a:lnTo>
                    <a:pt x="711487" y="0"/>
                  </a:lnTo>
                  <a:lnTo>
                    <a:pt x="711487" y="677853"/>
                  </a:lnTo>
                  <a:lnTo>
                    <a:pt x="0" y="67785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012514" y="1028700"/>
            <a:ext cx="8306441" cy="921608"/>
            <a:chOff x="0" y="0"/>
            <a:chExt cx="2187705" cy="24272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87705" cy="242728"/>
            </a:xfrm>
            <a:custGeom>
              <a:avLst/>
              <a:gdLst/>
              <a:ahLst/>
              <a:cxnLst/>
              <a:rect r="r" b="b" t="t" l="l"/>
              <a:pathLst>
                <a:path h="242728" w="2187705">
                  <a:moveTo>
                    <a:pt x="93204" y="0"/>
                  </a:moveTo>
                  <a:lnTo>
                    <a:pt x="2094501" y="0"/>
                  </a:lnTo>
                  <a:cubicBezTo>
                    <a:pt x="2119220" y="0"/>
                    <a:pt x="2142927" y="9820"/>
                    <a:pt x="2160406" y="27299"/>
                  </a:cubicBezTo>
                  <a:cubicBezTo>
                    <a:pt x="2177885" y="44778"/>
                    <a:pt x="2187705" y="68485"/>
                    <a:pt x="2187705" y="93204"/>
                  </a:cubicBezTo>
                  <a:lnTo>
                    <a:pt x="2187705" y="149524"/>
                  </a:lnTo>
                  <a:cubicBezTo>
                    <a:pt x="2187705" y="200999"/>
                    <a:pt x="2145976" y="242728"/>
                    <a:pt x="2094501" y="242728"/>
                  </a:cubicBezTo>
                  <a:lnTo>
                    <a:pt x="93204" y="242728"/>
                  </a:lnTo>
                  <a:cubicBezTo>
                    <a:pt x="68485" y="242728"/>
                    <a:pt x="44778" y="232908"/>
                    <a:pt x="27299" y="215429"/>
                  </a:cubicBezTo>
                  <a:cubicBezTo>
                    <a:pt x="9820" y="197950"/>
                    <a:pt x="0" y="174243"/>
                    <a:pt x="0" y="149524"/>
                  </a:cubicBezTo>
                  <a:lnTo>
                    <a:pt x="0" y="93204"/>
                  </a:lnTo>
                  <a:cubicBezTo>
                    <a:pt x="0" y="68485"/>
                    <a:pt x="9820" y="44778"/>
                    <a:pt x="27299" y="27299"/>
                  </a:cubicBezTo>
                  <a:cubicBezTo>
                    <a:pt x="44778" y="9820"/>
                    <a:pt x="68485" y="0"/>
                    <a:pt x="93204" y="0"/>
                  </a:cubicBezTo>
                  <a:close/>
                </a:path>
              </a:pathLst>
            </a:custGeom>
            <a:solidFill>
              <a:srgbClr val="EAF2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2187705" cy="2998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84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0" y="9492721"/>
            <a:ext cx="18288000" cy="794279"/>
            <a:chOff x="0" y="0"/>
            <a:chExt cx="4816593" cy="20919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816592" cy="209193"/>
            </a:xfrm>
            <a:custGeom>
              <a:avLst/>
              <a:gdLst/>
              <a:ahLst/>
              <a:cxnLst/>
              <a:rect r="r" b="b" t="t" l="l"/>
              <a:pathLst>
                <a:path h="209193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209193"/>
                  </a:lnTo>
                  <a:lnTo>
                    <a:pt x="0" y="209193"/>
                  </a:lnTo>
                  <a:close/>
                </a:path>
              </a:pathLst>
            </a:custGeom>
            <a:gradFill rotWithShape="true">
              <a:gsLst>
                <a:gs pos="0">
                  <a:srgbClr val="E9F2FF">
                    <a:alpha val="100000"/>
                  </a:srgbClr>
                </a:gs>
                <a:gs pos="100000">
                  <a:srgbClr val="A5C1F0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7" id="7"/>
            <p:cNvSpPr txBox="true"/>
            <p:nvPr/>
          </p:nvSpPr>
          <p:spPr>
            <a:xfrm>
              <a:off x="0" y="-57150"/>
              <a:ext cx="4816593" cy="26634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84"/>
                </a:lnSpc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328902" y="2697644"/>
            <a:ext cx="17630196" cy="59810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6B7280"/>
                </a:solidFill>
                <a:latin typeface="Body Grotesque Fit"/>
                <a:ea typeface="Body Grotesque Fit"/>
                <a:cs typeface="Body Grotesque Fit"/>
                <a:sym typeface="Body Grotesque Fit"/>
              </a:rPr>
              <a:t>Aprendi que un dataset es mucho mejor tener pocos ejemplos pero de buena calidad, que tener un montón de ejemplos pero sucios</a:t>
            </a:r>
          </a:p>
          <a:p>
            <a:pPr algn="l">
              <a:lnSpc>
                <a:spcPts val="4759"/>
              </a:lnSpc>
            </a:pPr>
          </a:p>
          <a:p>
            <a:pPr algn="l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6B7280"/>
                </a:solidFill>
                <a:latin typeface="Body Grotesque Fit"/>
                <a:ea typeface="Body Grotesque Fit"/>
                <a:cs typeface="Body Grotesque Fit"/>
                <a:sym typeface="Body Grotesque Fit"/>
              </a:rPr>
              <a:t>Aprendi como hacer una linea telefonica con asterisk</a:t>
            </a:r>
          </a:p>
          <a:p>
            <a:pPr algn="l">
              <a:lnSpc>
                <a:spcPts val="4759"/>
              </a:lnSpc>
            </a:pPr>
          </a:p>
          <a:p>
            <a:pPr algn="l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6B7280"/>
                </a:solidFill>
                <a:latin typeface="Body Grotesque Fit"/>
                <a:ea typeface="Body Grotesque Fit"/>
                <a:cs typeface="Body Grotesque Fit"/>
                <a:sym typeface="Body Grotesque Fit"/>
              </a:rPr>
              <a:t>Aprendi que entre mas grande sea el modelo de base al fine tuning no significa sea la mejor opción</a:t>
            </a:r>
          </a:p>
          <a:p>
            <a:pPr algn="l">
              <a:lnSpc>
                <a:spcPts val="4759"/>
              </a:lnSpc>
            </a:pPr>
          </a:p>
          <a:p>
            <a:pPr algn="l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6B7280"/>
                </a:solidFill>
                <a:latin typeface="Body Grotesque Fit"/>
                <a:ea typeface="Body Grotesque Fit"/>
                <a:cs typeface="Body Grotesque Fit"/>
                <a:sym typeface="Body Grotesque Fit"/>
              </a:rPr>
              <a:t>Aprendi la arquitectura y funcionamiento para entrenar modelos de generación de audios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54722" y="1060580"/>
            <a:ext cx="9557909" cy="6134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b="true" sz="3600" spc="-180">
                <a:solidFill>
                  <a:srgbClr val="6B7280"/>
                </a:solidFill>
                <a:latin typeface="Body Grotesque Fit Bold"/>
                <a:ea typeface="Body Grotesque Fit Bold"/>
                <a:cs typeface="Body Grotesque Fit Bold"/>
                <a:sym typeface="Body Grotesque Fit Bold"/>
              </a:rPr>
              <a:t>¿QUÉ HABÉIS APRENDID</a:t>
            </a:r>
            <a:r>
              <a:rPr lang="en-US" b="true" sz="3600" spc="-180">
                <a:solidFill>
                  <a:srgbClr val="6B7280"/>
                </a:solidFill>
                <a:latin typeface="Body Grotesque Fit Bold"/>
                <a:ea typeface="Body Grotesque Fit Bold"/>
                <a:cs typeface="Body Grotesque Fit Bold"/>
                <a:sym typeface="Body Grotesque Fit Bold"/>
              </a:rPr>
              <a:t>O?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012514" y="695579"/>
            <a:ext cx="10877931" cy="1249791"/>
            <a:chOff x="0" y="0"/>
            <a:chExt cx="2864970" cy="32916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864970" cy="329163"/>
            </a:xfrm>
            <a:custGeom>
              <a:avLst/>
              <a:gdLst/>
              <a:ahLst/>
              <a:cxnLst/>
              <a:rect r="r" b="b" t="t" l="l"/>
              <a:pathLst>
                <a:path h="329163" w="2864970">
                  <a:moveTo>
                    <a:pt x="71171" y="0"/>
                  </a:moveTo>
                  <a:lnTo>
                    <a:pt x="2793799" y="0"/>
                  </a:lnTo>
                  <a:cubicBezTo>
                    <a:pt x="2833105" y="0"/>
                    <a:pt x="2864970" y="31864"/>
                    <a:pt x="2864970" y="71171"/>
                  </a:cubicBezTo>
                  <a:lnTo>
                    <a:pt x="2864970" y="257992"/>
                  </a:lnTo>
                  <a:cubicBezTo>
                    <a:pt x="2864970" y="297299"/>
                    <a:pt x="2833105" y="329163"/>
                    <a:pt x="2793799" y="329163"/>
                  </a:cubicBezTo>
                  <a:lnTo>
                    <a:pt x="71171" y="329163"/>
                  </a:lnTo>
                  <a:cubicBezTo>
                    <a:pt x="31864" y="329163"/>
                    <a:pt x="0" y="297299"/>
                    <a:pt x="0" y="257992"/>
                  </a:cubicBezTo>
                  <a:lnTo>
                    <a:pt x="0" y="71171"/>
                  </a:lnTo>
                  <a:cubicBezTo>
                    <a:pt x="0" y="31864"/>
                    <a:pt x="31864" y="0"/>
                    <a:pt x="71171" y="0"/>
                  </a:cubicBezTo>
                  <a:close/>
                </a:path>
              </a:pathLst>
            </a:custGeom>
            <a:solidFill>
              <a:srgbClr val="EAF2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2864970" cy="38631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84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0" y="9492721"/>
            <a:ext cx="18288000" cy="794279"/>
            <a:chOff x="0" y="0"/>
            <a:chExt cx="4816593" cy="20919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816592" cy="209193"/>
            </a:xfrm>
            <a:custGeom>
              <a:avLst/>
              <a:gdLst/>
              <a:ahLst/>
              <a:cxnLst/>
              <a:rect r="r" b="b" t="t" l="l"/>
              <a:pathLst>
                <a:path h="209193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209193"/>
                  </a:lnTo>
                  <a:lnTo>
                    <a:pt x="0" y="209193"/>
                  </a:lnTo>
                  <a:close/>
                </a:path>
              </a:pathLst>
            </a:custGeom>
            <a:gradFill rotWithShape="true">
              <a:gsLst>
                <a:gs pos="0">
                  <a:srgbClr val="E9F2FF">
                    <a:alpha val="100000"/>
                  </a:srgbClr>
                </a:gs>
                <a:gs pos="100000">
                  <a:srgbClr val="A5C1F0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7" id="7"/>
            <p:cNvSpPr txBox="true"/>
            <p:nvPr/>
          </p:nvSpPr>
          <p:spPr>
            <a:xfrm>
              <a:off x="0" y="-57150"/>
              <a:ext cx="4816593" cy="26634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84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2084716" y="3386455"/>
            <a:ext cx="4672390" cy="5150450"/>
            <a:chOff x="0" y="0"/>
            <a:chExt cx="1230588" cy="1356497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230588" cy="1356497"/>
            </a:xfrm>
            <a:custGeom>
              <a:avLst/>
              <a:gdLst/>
              <a:ahLst/>
              <a:cxnLst/>
              <a:rect r="r" b="b" t="t" l="l"/>
              <a:pathLst>
                <a:path h="1356497" w="1230588">
                  <a:moveTo>
                    <a:pt x="122614" y="0"/>
                  </a:moveTo>
                  <a:lnTo>
                    <a:pt x="1107974" y="0"/>
                  </a:lnTo>
                  <a:cubicBezTo>
                    <a:pt x="1140493" y="0"/>
                    <a:pt x="1171681" y="12918"/>
                    <a:pt x="1194675" y="35913"/>
                  </a:cubicBezTo>
                  <a:cubicBezTo>
                    <a:pt x="1217670" y="58908"/>
                    <a:pt x="1230588" y="90095"/>
                    <a:pt x="1230588" y="122614"/>
                  </a:cubicBezTo>
                  <a:lnTo>
                    <a:pt x="1230588" y="1233883"/>
                  </a:lnTo>
                  <a:cubicBezTo>
                    <a:pt x="1230588" y="1301601"/>
                    <a:pt x="1175692" y="1356497"/>
                    <a:pt x="1107974" y="1356497"/>
                  </a:cubicBezTo>
                  <a:lnTo>
                    <a:pt x="122614" y="1356497"/>
                  </a:lnTo>
                  <a:cubicBezTo>
                    <a:pt x="54896" y="1356497"/>
                    <a:pt x="0" y="1301601"/>
                    <a:pt x="0" y="1233883"/>
                  </a:cubicBezTo>
                  <a:lnTo>
                    <a:pt x="0" y="122614"/>
                  </a:lnTo>
                  <a:cubicBezTo>
                    <a:pt x="0" y="54896"/>
                    <a:pt x="54896" y="0"/>
                    <a:pt x="122614" y="0"/>
                  </a:cubicBezTo>
                  <a:close/>
                </a:path>
              </a:pathLst>
            </a:custGeom>
            <a:solidFill>
              <a:srgbClr val="EAF2FF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57150"/>
              <a:ext cx="1230588" cy="141364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84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6949470" y="3386455"/>
            <a:ext cx="4672390" cy="5150450"/>
            <a:chOff x="0" y="0"/>
            <a:chExt cx="1230588" cy="1356497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230588" cy="1356497"/>
            </a:xfrm>
            <a:custGeom>
              <a:avLst/>
              <a:gdLst/>
              <a:ahLst/>
              <a:cxnLst/>
              <a:rect r="r" b="b" t="t" l="l"/>
              <a:pathLst>
                <a:path h="1356497" w="1230588">
                  <a:moveTo>
                    <a:pt x="122614" y="0"/>
                  </a:moveTo>
                  <a:lnTo>
                    <a:pt x="1107974" y="0"/>
                  </a:lnTo>
                  <a:cubicBezTo>
                    <a:pt x="1140493" y="0"/>
                    <a:pt x="1171681" y="12918"/>
                    <a:pt x="1194675" y="35913"/>
                  </a:cubicBezTo>
                  <a:cubicBezTo>
                    <a:pt x="1217670" y="58908"/>
                    <a:pt x="1230588" y="90095"/>
                    <a:pt x="1230588" y="122614"/>
                  </a:cubicBezTo>
                  <a:lnTo>
                    <a:pt x="1230588" y="1233883"/>
                  </a:lnTo>
                  <a:cubicBezTo>
                    <a:pt x="1230588" y="1301601"/>
                    <a:pt x="1175692" y="1356497"/>
                    <a:pt x="1107974" y="1356497"/>
                  </a:cubicBezTo>
                  <a:lnTo>
                    <a:pt x="122614" y="1356497"/>
                  </a:lnTo>
                  <a:cubicBezTo>
                    <a:pt x="54896" y="1356497"/>
                    <a:pt x="0" y="1301601"/>
                    <a:pt x="0" y="1233883"/>
                  </a:cubicBezTo>
                  <a:lnTo>
                    <a:pt x="0" y="122614"/>
                  </a:lnTo>
                  <a:cubicBezTo>
                    <a:pt x="0" y="54896"/>
                    <a:pt x="54896" y="0"/>
                    <a:pt x="122614" y="0"/>
                  </a:cubicBezTo>
                  <a:close/>
                </a:path>
              </a:pathLst>
            </a:custGeom>
            <a:solidFill>
              <a:srgbClr val="EAF2FF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57150"/>
              <a:ext cx="1230588" cy="141364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84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1814223" y="3386455"/>
            <a:ext cx="4672390" cy="5150450"/>
            <a:chOff x="0" y="0"/>
            <a:chExt cx="1230588" cy="1356497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230588" cy="1356497"/>
            </a:xfrm>
            <a:custGeom>
              <a:avLst/>
              <a:gdLst/>
              <a:ahLst/>
              <a:cxnLst/>
              <a:rect r="r" b="b" t="t" l="l"/>
              <a:pathLst>
                <a:path h="1356497" w="1230588">
                  <a:moveTo>
                    <a:pt x="122614" y="0"/>
                  </a:moveTo>
                  <a:lnTo>
                    <a:pt x="1107974" y="0"/>
                  </a:lnTo>
                  <a:cubicBezTo>
                    <a:pt x="1140493" y="0"/>
                    <a:pt x="1171681" y="12918"/>
                    <a:pt x="1194675" y="35913"/>
                  </a:cubicBezTo>
                  <a:cubicBezTo>
                    <a:pt x="1217670" y="58908"/>
                    <a:pt x="1230588" y="90095"/>
                    <a:pt x="1230588" y="122614"/>
                  </a:cubicBezTo>
                  <a:lnTo>
                    <a:pt x="1230588" y="1233883"/>
                  </a:lnTo>
                  <a:cubicBezTo>
                    <a:pt x="1230588" y="1301601"/>
                    <a:pt x="1175692" y="1356497"/>
                    <a:pt x="1107974" y="1356497"/>
                  </a:cubicBezTo>
                  <a:lnTo>
                    <a:pt x="122614" y="1356497"/>
                  </a:lnTo>
                  <a:cubicBezTo>
                    <a:pt x="54896" y="1356497"/>
                    <a:pt x="0" y="1301601"/>
                    <a:pt x="0" y="1233883"/>
                  </a:cubicBezTo>
                  <a:lnTo>
                    <a:pt x="0" y="122614"/>
                  </a:lnTo>
                  <a:cubicBezTo>
                    <a:pt x="0" y="54896"/>
                    <a:pt x="54896" y="0"/>
                    <a:pt x="122614" y="0"/>
                  </a:cubicBezTo>
                  <a:close/>
                </a:path>
              </a:pathLst>
            </a:custGeom>
            <a:solidFill>
              <a:srgbClr val="EAF2FF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57150"/>
              <a:ext cx="1230588" cy="141364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84"/>
                </a:lnSpc>
              </a:pPr>
            </a:p>
          </p:txBody>
        </p:sp>
      </p:grpSp>
      <p:sp>
        <p:nvSpPr>
          <p:cNvPr name="TextBox 17" id="17"/>
          <p:cNvSpPr txBox="true"/>
          <p:nvPr/>
        </p:nvSpPr>
        <p:spPr>
          <a:xfrm rot="0">
            <a:off x="344265" y="745479"/>
            <a:ext cx="9672198" cy="12515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b="true" sz="3600" spc="-179">
                <a:solidFill>
                  <a:srgbClr val="6B7280"/>
                </a:solidFill>
                <a:latin typeface="Body Grotesque Fit Bold"/>
                <a:ea typeface="Body Grotesque Fit Bold"/>
                <a:cs typeface="Body Grotesque Fit Bold"/>
                <a:sym typeface="Body Grotesque Fit Bold"/>
              </a:rPr>
              <a:t>¿QUÉ COSAS SEGUIRÉIS HACIENDO EN EL FUTURO PARA MEJORAR EL PROYECTO?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2086580" y="5265538"/>
            <a:ext cx="4672390" cy="17828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84"/>
              </a:lnSpc>
              <a:spcBef>
                <a:spcPct val="0"/>
              </a:spcBef>
            </a:pPr>
            <a:r>
              <a:rPr lang="en-US" sz="2560">
                <a:solidFill>
                  <a:srgbClr val="6B7280"/>
                </a:solidFill>
                <a:latin typeface="Body Grotesque Fit"/>
                <a:ea typeface="Body Grotesque Fit"/>
                <a:cs typeface="Body Grotesque Fit"/>
                <a:sym typeface="Body Grotesque Fit"/>
              </a:rPr>
              <a:t>Implementar evaluación automática con feedback del usuario. para seguir mejorando el modelo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7384070" y="5265538"/>
            <a:ext cx="3803190" cy="17828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84"/>
              </a:lnSpc>
              <a:spcBef>
                <a:spcPct val="0"/>
              </a:spcBef>
            </a:pPr>
            <a:r>
              <a:rPr lang="en-US" sz="2560">
                <a:solidFill>
                  <a:srgbClr val="6B7280"/>
                </a:solidFill>
                <a:latin typeface="Body Grotesque Fit"/>
                <a:ea typeface="Body Grotesque Fit"/>
                <a:cs typeface="Body Grotesque Fit"/>
                <a:sym typeface="Body Grotesque Fit"/>
              </a:rPr>
              <a:t>Mejorar la calidad de voz del asistente, ya que asterisk la baja bastante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2140173" y="5265538"/>
            <a:ext cx="4020490" cy="13351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84"/>
              </a:lnSpc>
              <a:spcBef>
                <a:spcPct val="0"/>
              </a:spcBef>
            </a:pPr>
            <a:r>
              <a:rPr lang="en-US" sz="2560">
                <a:solidFill>
                  <a:srgbClr val="6B7280"/>
                </a:solidFill>
                <a:latin typeface="Body Grotesque Fit"/>
                <a:ea typeface="Body Grotesque Fit"/>
                <a:cs typeface="Body Grotesque Fit"/>
                <a:sym typeface="Body Grotesque Fit"/>
              </a:rPr>
              <a:t>Optimizar el tiempo de espera de la respuesta del asistente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3985884" y="2949564"/>
            <a:ext cx="873781" cy="873781"/>
            <a:chOff x="0" y="0"/>
            <a:chExt cx="1165041" cy="1165041"/>
          </a:xfrm>
        </p:grpSpPr>
        <p:grpSp>
          <p:nvGrpSpPr>
            <p:cNvPr name="Group 22" id="22"/>
            <p:cNvGrpSpPr/>
            <p:nvPr/>
          </p:nvGrpSpPr>
          <p:grpSpPr>
            <a:xfrm rot="0">
              <a:off x="0" y="0"/>
              <a:ext cx="1165041" cy="1165041"/>
              <a:chOff x="0" y="0"/>
              <a:chExt cx="812800" cy="812800"/>
            </a:xfrm>
          </p:grpSpPr>
          <p:sp>
            <p:nvSpPr>
              <p:cNvPr name="Freeform 23" id="23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A2BFEF"/>
              </a:solidFill>
            </p:spPr>
          </p:sp>
          <p:sp>
            <p:nvSpPr>
              <p:cNvPr name="TextBox 24" id="24"/>
              <p:cNvSpPr txBox="true"/>
              <p:nvPr/>
            </p:nvSpPr>
            <p:spPr>
              <a:xfrm>
                <a:off x="76200" y="19050"/>
                <a:ext cx="660400" cy="7175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584"/>
                  </a:lnSpc>
                </a:pPr>
              </a:p>
            </p:txBody>
          </p:sp>
        </p:grpSp>
        <p:sp>
          <p:nvSpPr>
            <p:cNvPr name="Freeform 25" id="25"/>
            <p:cNvSpPr/>
            <p:nvPr/>
          </p:nvSpPr>
          <p:spPr>
            <a:xfrm flipH="false" flipV="false" rot="0">
              <a:off x="224292" y="243594"/>
              <a:ext cx="711487" cy="677853"/>
            </a:xfrm>
            <a:custGeom>
              <a:avLst/>
              <a:gdLst/>
              <a:ahLst/>
              <a:cxnLst/>
              <a:rect r="r" b="b" t="t" l="l"/>
              <a:pathLst>
                <a:path h="677853" w="711487">
                  <a:moveTo>
                    <a:pt x="0" y="0"/>
                  </a:moveTo>
                  <a:lnTo>
                    <a:pt x="711487" y="0"/>
                  </a:lnTo>
                  <a:lnTo>
                    <a:pt x="711487" y="677853"/>
                  </a:lnTo>
                  <a:lnTo>
                    <a:pt x="0" y="67785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8848774" y="2949564"/>
            <a:ext cx="873781" cy="873781"/>
            <a:chOff x="0" y="0"/>
            <a:chExt cx="1165041" cy="1165041"/>
          </a:xfrm>
        </p:grpSpPr>
        <p:grpSp>
          <p:nvGrpSpPr>
            <p:cNvPr name="Group 27" id="27"/>
            <p:cNvGrpSpPr/>
            <p:nvPr/>
          </p:nvGrpSpPr>
          <p:grpSpPr>
            <a:xfrm rot="0">
              <a:off x="0" y="0"/>
              <a:ext cx="1165041" cy="1165041"/>
              <a:chOff x="0" y="0"/>
              <a:chExt cx="812800" cy="812800"/>
            </a:xfrm>
          </p:grpSpPr>
          <p:sp>
            <p:nvSpPr>
              <p:cNvPr name="Freeform 28" id="28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A2BFEF"/>
              </a:solidFill>
            </p:spPr>
          </p:sp>
          <p:sp>
            <p:nvSpPr>
              <p:cNvPr name="TextBox 29" id="29"/>
              <p:cNvSpPr txBox="true"/>
              <p:nvPr/>
            </p:nvSpPr>
            <p:spPr>
              <a:xfrm>
                <a:off x="76200" y="19050"/>
                <a:ext cx="660400" cy="7175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584"/>
                  </a:lnSpc>
                </a:pPr>
              </a:p>
            </p:txBody>
          </p:sp>
        </p:grpSp>
        <p:sp>
          <p:nvSpPr>
            <p:cNvPr name="Freeform 30" id="30"/>
            <p:cNvSpPr/>
            <p:nvPr/>
          </p:nvSpPr>
          <p:spPr>
            <a:xfrm flipH="false" flipV="false" rot="0">
              <a:off x="224292" y="243594"/>
              <a:ext cx="711487" cy="677853"/>
            </a:xfrm>
            <a:custGeom>
              <a:avLst/>
              <a:gdLst/>
              <a:ahLst/>
              <a:cxnLst/>
              <a:rect r="r" b="b" t="t" l="l"/>
              <a:pathLst>
                <a:path h="677853" w="711487">
                  <a:moveTo>
                    <a:pt x="0" y="0"/>
                  </a:moveTo>
                  <a:lnTo>
                    <a:pt x="711487" y="0"/>
                  </a:lnTo>
                  <a:lnTo>
                    <a:pt x="711487" y="677853"/>
                  </a:lnTo>
                  <a:lnTo>
                    <a:pt x="0" y="67785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31" id="31"/>
          <p:cNvGrpSpPr/>
          <p:nvPr/>
        </p:nvGrpSpPr>
        <p:grpSpPr>
          <a:xfrm rot="0">
            <a:off x="13713528" y="2949564"/>
            <a:ext cx="873781" cy="873781"/>
            <a:chOff x="0" y="0"/>
            <a:chExt cx="1165041" cy="1165041"/>
          </a:xfrm>
        </p:grpSpPr>
        <p:grpSp>
          <p:nvGrpSpPr>
            <p:cNvPr name="Group 32" id="32"/>
            <p:cNvGrpSpPr/>
            <p:nvPr/>
          </p:nvGrpSpPr>
          <p:grpSpPr>
            <a:xfrm rot="0">
              <a:off x="0" y="0"/>
              <a:ext cx="1165041" cy="1165041"/>
              <a:chOff x="0" y="0"/>
              <a:chExt cx="812800" cy="812800"/>
            </a:xfrm>
          </p:grpSpPr>
          <p:sp>
            <p:nvSpPr>
              <p:cNvPr name="Freeform 33" id="33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A2BFEF"/>
              </a:solidFill>
            </p:spPr>
          </p:sp>
          <p:sp>
            <p:nvSpPr>
              <p:cNvPr name="TextBox 34" id="34"/>
              <p:cNvSpPr txBox="true"/>
              <p:nvPr/>
            </p:nvSpPr>
            <p:spPr>
              <a:xfrm>
                <a:off x="76200" y="19050"/>
                <a:ext cx="660400" cy="7175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584"/>
                  </a:lnSpc>
                </a:pPr>
              </a:p>
            </p:txBody>
          </p:sp>
        </p:grpSp>
        <p:sp>
          <p:nvSpPr>
            <p:cNvPr name="Freeform 35" id="35"/>
            <p:cNvSpPr/>
            <p:nvPr/>
          </p:nvSpPr>
          <p:spPr>
            <a:xfrm flipH="false" flipV="false" rot="0">
              <a:off x="224292" y="243594"/>
              <a:ext cx="711487" cy="677853"/>
            </a:xfrm>
            <a:custGeom>
              <a:avLst/>
              <a:gdLst/>
              <a:ahLst/>
              <a:cxnLst/>
              <a:rect r="r" b="b" t="t" l="l"/>
              <a:pathLst>
                <a:path h="677853" w="711487">
                  <a:moveTo>
                    <a:pt x="0" y="0"/>
                  </a:moveTo>
                  <a:lnTo>
                    <a:pt x="711487" y="0"/>
                  </a:lnTo>
                  <a:lnTo>
                    <a:pt x="711487" y="677853"/>
                  </a:lnTo>
                  <a:lnTo>
                    <a:pt x="0" y="67785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AF2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748293" y="0"/>
            <a:ext cx="10230889" cy="10287000"/>
          </a:xfrm>
          <a:custGeom>
            <a:avLst/>
            <a:gdLst/>
            <a:ahLst/>
            <a:cxnLst/>
            <a:rect r="r" b="b" t="t" l="l"/>
            <a:pathLst>
              <a:path h="10287000" w="10230889">
                <a:moveTo>
                  <a:pt x="0" y="0"/>
                </a:moveTo>
                <a:lnTo>
                  <a:pt x="10230889" y="0"/>
                </a:lnTo>
                <a:lnTo>
                  <a:pt x="10230889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3444707" y="3510879"/>
            <a:ext cx="11398587" cy="29413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99"/>
              </a:lnSpc>
            </a:pPr>
            <a:r>
              <a:rPr lang="en-US" b="true" sz="17213">
                <a:solidFill>
                  <a:srgbClr val="1E3A8A"/>
                </a:solidFill>
                <a:latin typeface="Body Grotesque Fit Bold"/>
                <a:ea typeface="Body Grotesque Fit Bold"/>
                <a:cs typeface="Body Grotesque Fit Bold"/>
                <a:sym typeface="Body Grotesque Fit Bold"/>
              </a:rPr>
              <a:t>GRACIAS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DAHDJEIDx84</dc:identifier>
  <dcterms:modified xsi:type="dcterms:W3CDTF">2011-08-01T06:04:30Z</dcterms:modified>
  <cp:revision>1</cp:revision>
  <dc:title>Reflexiones</dc:title>
</cp:coreProperties>
</file>